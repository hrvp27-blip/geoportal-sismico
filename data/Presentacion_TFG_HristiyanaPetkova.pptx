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5"/>
  </p:notesMasterIdLst>
  <p:sldIdLst>
    <p:sldId id="356" r:id="rId2"/>
    <p:sldId id="397" r:id="rId3"/>
    <p:sldId id="433" r:id="rId4"/>
    <p:sldId id="434" r:id="rId5"/>
    <p:sldId id="400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54" r:id="rId15"/>
    <p:sldId id="455" r:id="rId16"/>
    <p:sldId id="456" r:id="rId17"/>
    <p:sldId id="457" r:id="rId18"/>
    <p:sldId id="459" r:id="rId19"/>
    <p:sldId id="460" r:id="rId20"/>
    <p:sldId id="461" r:id="rId21"/>
    <p:sldId id="462" r:id="rId22"/>
    <p:sldId id="463" r:id="rId23"/>
    <p:sldId id="45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40"/>
    <a:srgbClr val="FEFEFE"/>
    <a:srgbClr val="538135"/>
    <a:srgbClr val="BF8F00"/>
    <a:srgbClr val="141C1F"/>
    <a:srgbClr val="E08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59548" autoAdjust="0"/>
  </p:normalViewPr>
  <p:slideViewPr>
    <p:cSldViewPr snapToGrid="0" snapToObjects="1">
      <p:cViewPr varScale="1">
        <p:scale>
          <a:sx n="75" d="100"/>
          <a:sy n="75" d="100"/>
        </p:scale>
        <p:origin x="193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s-ES" sz="1600" b="1"/>
              <a:t>Ingresos frente a costes de operación (€, IVA incl.)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Ingresos</c:v>
          </c:tx>
          <c:invertIfNegative val="1"/>
          <c:dLbls>
            <c:dLbl>
              <c:idx val="0"/>
              <c:layout>
                <c:manualLayout>
                  <c:x val="2.5773195876288658E-2"/>
                  <c:y val="1.31578947368421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8C-49A8-B090-571FB0EC146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</c:strLit>
          </c:cat>
          <c:val>
            <c:numLit>
              <c:formatCode>General</c:formatCode>
              <c:ptCount val="5"/>
              <c:pt idx="0">
                <c:v>9500</c:v>
              </c:pt>
              <c:pt idx="1">
                <c:v>13700</c:v>
              </c:pt>
              <c:pt idx="2">
                <c:v>22800</c:v>
              </c:pt>
              <c:pt idx="3">
                <c:v>27500</c:v>
              </c:pt>
              <c:pt idx="4">
                <c:v>36200</c:v>
              </c:pt>
            </c:numLit>
          </c:val>
          <c:extLst>
            <c:ext xmlns:c16="http://schemas.microsoft.com/office/drawing/2014/chart" uri="{C3380CC4-5D6E-409C-BE32-E72D297353CC}">
              <c16:uniqueId val="{00000000-230B-4AE5-A638-A243957A534E}"/>
            </c:ext>
          </c:extLst>
        </c:ser>
        <c:ser>
          <c:idx val="1"/>
          <c:order val="1"/>
          <c:tx>
            <c:v>Costes de operación</c:v>
          </c:tx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8C-49A8-B090-571FB0EC1461}"/>
                </c:ext>
              </c:extLst>
            </c:dLbl>
            <c:dLbl>
              <c:idx val="1"/>
              <c:layout>
                <c:manualLayout>
                  <c:x val="2.5773195876288613E-2"/>
                  <c:y val="1.31578947368421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8C-49A8-B090-571FB0EC1461}"/>
                </c:ext>
              </c:extLst>
            </c:dLbl>
            <c:dLbl>
              <c:idx val="2"/>
              <c:layout>
                <c:manualLayout>
                  <c:x val="3.8659793814432991E-2"/>
                  <c:y val="8.040842784012627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8C-49A8-B090-571FB0EC1461}"/>
                </c:ext>
              </c:extLst>
            </c:dLbl>
            <c:dLbl>
              <c:idx val="3"/>
              <c:layout>
                <c:manualLayout>
                  <c:x val="3.608247422680412E-2"/>
                  <c:y val="8.040842784012627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8C-49A8-B090-571FB0EC1461}"/>
                </c:ext>
              </c:extLst>
            </c:dLbl>
            <c:dLbl>
              <c:idx val="4"/>
              <c:layout>
                <c:manualLayout>
                  <c:x val="2.9222173050465084E-2"/>
                  <c:y val="-2.192982456140518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11646962841204327"/>
                      <c:h val="8.37280701754385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B8C-49A8-B090-571FB0EC146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</c:strLit>
          </c:cat>
          <c:val>
            <c:numLit>
              <c:formatCode>General</c:formatCode>
              <c:ptCount val="5"/>
              <c:pt idx="0">
                <c:v>9590</c:v>
              </c:pt>
              <c:pt idx="1">
                <c:v>9819</c:v>
              </c:pt>
              <c:pt idx="2">
                <c:v>10008</c:v>
              </c:pt>
              <c:pt idx="3">
                <c:v>10199</c:v>
              </c:pt>
              <c:pt idx="4">
                <c:v>10395</c:v>
              </c:pt>
            </c:numLit>
          </c:val>
          <c:extLst>
            <c:ext xmlns:c16="http://schemas.microsoft.com/office/drawing/2014/chart" uri="{C3380CC4-5D6E-409C-BE32-E72D297353CC}">
              <c16:uniqueId val="{00000001-230B-4AE5-A638-A243957A5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s-E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s-E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s-E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39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Buenos días. Soy Hristiyana Petkova y presento mi TFG: desarrollo de un geoportal web para el ajuste de modelos de recurrencia sísmica considerando la incertidumbre espacial de los eventos </a:t>
            </a:r>
            <a:r>
              <a:rPr lang="es-ES" dirty="0" err="1"/>
              <a:t>sismicos</a:t>
            </a:r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contenido de esta presentación empieza por la motivación y objetivos que tiene este proyecto, recorreremos fundamentos , arquitectura y funcionamiento. 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 mostrare los resultados obtenidos y haremos un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mercado, presupuesto junto con las conclusiones del trabajo.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u="sng" dirty="0"/>
              <a:t>Los terremotos causan cada año miles de víctimas y grandes pérdidas económicas en todo el mundo, como el reciente terremoto de Venezuela.</a:t>
            </a:r>
          </a:p>
          <a:p>
            <a:r>
              <a:rPr lang="es-ES" dirty="0"/>
              <a:t>Hoy </a:t>
            </a:r>
            <a:r>
              <a:rPr lang="es-ES" b="1" dirty="0"/>
              <a:t>no podemos predecir cuándo, dónde y con qué magnitud</a:t>
            </a:r>
            <a:r>
              <a:rPr lang="es-ES" dirty="0"/>
              <a:t> ocurrirá un terremoto, pero sí estimar el movimiento del suelo esperable en los próximos 50 años, que es lo que usan los códigos sismorresistentes.</a:t>
            </a:r>
          </a:p>
          <a:p>
            <a:r>
              <a:rPr lang="es-ES" dirty="0"/>
              <a:t>No evitamos los terremotos, pero sí reducimos sus consecuencias con una buena estimación de la peligrosidad sísmica.</a:t>
            </a:r>
          </a:p>
        </p:txBody>
      </p:sp>
    </p:spTree>
    <p:extLst>
      <p:ext uri="{BB962C8B-B14F-4D97-AF65-F5344CB8AC3E}">
        <p14:creationId xmlns:p14="http://schemas.microsoft.com/office/powerpoint/2010/main" val="47932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La peligrosidad sísmica parte de una idea sencilla: </a:t>
            </a:r>
            <a:r>
              <a:rPr lang="es-ES" b="1" dirty="0"/>
              <a:t>usar la información del pasado para predecir el futuro</a:t>
            </a:r>
            <a:r>
              <a:rPr lang="es-ES" dirty="0"/>
              <a:t>.</a:t>
            </a:r>
          </a:p>
          <a:p>
            <a:r>
              <a:rPr lang="es-ES" dirty="0"/>
              <a:t>La fuente clave es el </a:t>
            </a:r>
            <a:r>
              <a:rPr lang="es-ES" u="sng" dirty="0"/>
              <a:t>catálogo sísmico; </a:t>
            </a:r>
            <a:r>
              <a:rPr lang="es-ES" dirty="0"/>
              <a:t>cuándo, dónde y con qué magnitud ocurrió cada terremoto, base de los modelos de recurrencia que alimentan los cálculos de peligrosidad.</a:t>
            </a:r>
          </a:p>
          <a:p>
            <a:r>
              <a:rPr lang="es-ES" dirty="0"/>
              <a:t>Como en todo modelo, </a:t>
            </a:r>
            <a:r>
              <a:rPr lang="es-ES" b="1" dirty="0"/>
              <a:t>la calidad del resultado depende de la calidad de los datos</a:t>
            </a:r>
            <a:r>
              <a:rPr lang="es-ES" dirty="0"/>
              <a:t>: este TFG desarrolla una herramienta visual e interactiva para analizar cómo la </a:t>
            </a:r>
            <a:r>
              <a:rPr lang="es-ES" u="sng" dirty="0"/>
              <a:t>incertidumbre en la localización</a:t>
            </a:r>
            <a:r>
              <a:rPr lang="es-ES" dirty="0"/>
              <a:t> afecta a esos modelos.</a:t>
            </a:r>
          </a:p>
        </p:txBody>
      </p:sp>
    </p:spTree>
    <p:extLst>
      <p:ext uri="{BB962C8B-B14F-4D97-AF65-F5344CB8AC3E}">
        <p14:creationId xmlns:p14="http://schemas.microsoft.com/office/powerpoint/2010/main" val="1468489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Nuestro objetivo principal y por tanto nuestro resultado es desarrollar un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geoportal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interactivo para el análisis de recurrencia sísmica con gestión de la incertidumbre espacial. 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¿Cómo lo vamos a hacer?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Integrar y gestionar la información sísmica y geoespacial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Visualizar de conjunta el catálogo sísmico y las zonas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sismogenéticas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 el cálculo de modelos de recurrencia sísmica.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Permitir la modificación interactiva de la asignación de eventos a zonas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sismogenéticas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Para calcular la peligrosidad sísmica se realiza un </a:t>
            </a:r>
            <a:r>
              <a:rPr lang="es-ES" b="1" dirty="0"/>
              <a:t>estudio probabilista, o PSHA</a:t>
            </a:r>
            <a:r>
              <a:rPr lang="es-ES" dirty="0"/>
              <a:t>, que caracteriza tres componentes.</a:t>
            </a:r>
          </a:p>
          <a:p>
            <a:r>
              <a:rPr lang="es-ES" dirty="0"/>
              <a:t>La </a:t>
            </a:r>
            <a:r>
              <a:rPr lang="es-ES" b="1" dirty="0"/>
              <a:t>fuente sísmica</a:t>
            </a:r>
            <a:r>
              <a:rPr lang="es-ES" dirty="0"/>
              <a:t> dónde, con qué frecuencia y con qué magnitud ocurren los terremotos, la </a:t>
            </a:r>
            <a:r>
              <a:rPr lang="es-ES" b="1" dirty="0"/>
              <a:t>propagación de la onda</a:t>
            </a:r>
            <a:r>
              <a:rPr lang="es-ES" dirty="0"/>
              <a:t> cómo se atenúa el movimiento hasta el emplazamiento y el </a:t>
            </a:r>
            <a:r>
              <a:rPr lang="es-ES" b="1" dirty="0"/>
              <a:t>efecto de sitio</a:t>
            </a:r>
            <a:r>
              <a:rPr lang="es-ES" dirty="0"/>
              <a:t> cómo el terreno lo modifica. Combinadas, estiman la aceleración esperada en un emplazamiento.</a:t>
            </a:r>
          </a:p>
          <a:p>
            <a:r>
              <a:rPr lang="es-ES" b="1" dirty="0"/>
              <a:t>Este TFG se centra en la primera: la caracterización de la fuente sísmica.</a:t>
            </a:r>
          </a:p>
        </p:txBody>
      </p:sp>
    </p:spTree>
    <p:extLst>
      <p:ext uri="{BB962C8B-B14F-4D97-AF65-F5344CB8AC3E}">
        <p14:creationId xmlns:p14="http://schemas.microsoft.com/office/powerpoint/2010/main" val="1947282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u="sng" dirty="0"/>
              <a:t>Caracterizar una fuente sísmica exige responder dos preguntas.</a:t>
            </a:r>
          </a:p>
          <a:p>
            <a:r>
              <a:rPr lang="es-ES" b="1" dirty="0"/>
              <a:t>Dónde pueden producirse los terremotos</a:t>
            </a:r>
            <a:r>
              <a:rPr lang="es-ES" dirty="0"/>
              <a:t>: la geometría de las fuentes, representada por fallas activas o, como es más habitual en estudios regionales, por </a:t>
            </a:r>
            <a:r>
              <a:rPr lang="es-ES" u="sng" dirty="0"/>
              <a:t>zonas sismogenéticas</a:t>
            </a:r>
            <a:r>
              <a:rPr lang="es-ES" dirty="0"/>
              <a:t> que agrupan regiones de comportamiento sísmico similar.</a:t>
            </a:r>
          </a:p>
          <a:p>
            <a:r>
              <a:rPr lang="es-ES" dirty="0"/>
              <a:t>Y </a:t>
            </a:r>
            <a:r>
              <a:rPr lang="es-ES" b="1" dirty="0"/>
              <a:t>cuál es su potencial sísmico</a:t>
            </a:r>
            <a:r>
              <a:rPr lang="es-ES" dirty="0"/>
              <a:t>: analizando la sismicidad del catálogo en cada zona obtenemos su modelo de recurrencia, que describe la actividad esperada en esa región.</a:t>
            </a:r>
          </a:p>
        </p:txBody>
      </p:sp>
    </p:spTree>
    <p:extLst>
      <p:ext uri="{BB962C8B-B14F-4D97-AF65-F5344CB8AC3E}">
        <p14:creationId xmlns:p14="http://schemas.microsoft.com/office/powerpoint/2010/main" val="691757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modelo de recurrencia más habitual es </a:t>
            </a:r>
            <a:r>
              <a:rPr lang="es-ES" u="sng" dirty="0"/>
              <a:t>la relación de Gutenberg-Richter</a:t>
            </a:r>
            <a:r>
              <a:rPr lang="es-ES" dirty="0"/>
              <a:t>, que describe la tasa de sismos de magnitud igual o superior a un valor dado.</a:t>
            </a:r>
          </a:p>
          <a:p>
            <a:r>
              <a:rPr lang="es-ES" dirty="0"/>
              <a:t>De ella obtenemos tres parámetros: </a:t>
            </a:r>
            <a:r>
              <a:rPr lang="es-ES" b="1" dirty="0"/>
              <a:t>a</a:t>
            </a:r>
            <a:r>
              <a:rPr lang="es-ES" dirty="0"/>
              <a:t> (nivel de actividad sísmica), </a:t>
            </a:r>
            <a:r>
              <a:rPr lang="es-ES" b="1" dirty="0"/>
              <a:t>b</a:t>
            </a:r>
            <a:r>
              <a:rPr lang="es-ES" dirty="0"/>
              <a:t> (proporción de terremotos grandes frente a pequeños) y la </a:t>
            </a:r>
            <a:r>
              <a:rPr lang="es-ES" b="1" dirty="0"/>
              <a:t>magnitud máxima</a:t>
            </a:r>
            <a:r>
              <a:rPr lang="es-ES" dirty="0"/>
              <a:t> esperable en la zona.</a:t>
            </a:r>
          </a:p>
          <a:p>
            <a:r>
              <a:rPr lang="es-ES" dirty="0"/>
              <a:t>La recta se ajusta al catálogo por </a:t>
            </a:r>
            <a:r>
              <a:rPr lang="es-ES" b="1" dirty="0"/>
              <a:t>mínimos cuadrados</a:t>
            </a:r>
            <a:r>
              <a:rPr lang="es-ES" dirty="0"/>
              <a:t> o </a:t>
            </a:r>
            <a:r>
              <a:rPr lang="es-ES" b="1" dirty="0"/>
              <a:t>máxima verosimilitud</a:t>
            </a:r>
            <a:r>
              <a:rPr lang="es-ES" dirty="0"/>
              <a:t>, y justo sobre ese ajuste actúa el geoportal: muestra cómo la incertidumbre de localización modifica el modelo obtenido.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Localizar un terremoto es un problema inverso: la precisión depende de la geometría de la red, las lecturas de fases y el modelo de velocidades; en catálogos históricos el error epicentral puede superar los </a:t>
            </a:r>
            <a:r>
              <a:rPr lang="es-ES" b="1" dirty="0"/>
              <a:t>20-50 km</a:t>
            </a:r>
            <a:r>
              <a:rPr lang="es-ES" dirty="0"/>
              <a:t>.</a:t>
            </a:r>
          </a:p>
          <a:p>
            <a:r>
              <a:rPr lang="es-ES" dirty="0"/>
              <a:t>La </a:t>
            </a:r>
            <a:r>
              <a:rPr lang="es-ES" b="1" dirty="0"/>
              <a:t>elipse de error</a:t>
            </a:r>
            <a:r>
              <a:rPr lang="es-ES" dirty="0"/>
              <a:t> representa esa incertidumbre con tres parámetros —semieje mayor, semieje menor y azimut— al 90 % de confianza. Cerca de un límite entre zonas, el evento puede cambiar de zona dentro de su elipse y modificar los parámetros de recurrencia de ambas.</a:t>
            </a:r>
          </a:p>
          <a:p>
            <a:r>
              <a:rPr lang="es-ES" dirty="0"/>
              <a:t>➡ Enlace: veamos con qué tecnologías hemos construido la herramienta.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Backend en </a:t>
            </a:r>
            <a:r>
              <a:rPr lang="es-ES" b="1" dirty="0"/>
              <a:t>Python con Django</a:t>
            </a:r>
            <a:r>
              <a:rPr lang="es-ES" dirty="0"/>
              <a:t> —elegido frente a Flask por traer ORM, rutas y administración de serie— y </a:t>
            </a:r>
            <a:r>
              <a:rPr lang="es-ES" b="1" dirty="0"/>
              <a:t>SQLite</a:t>
            </a:r>
            <a:r>
              <a:rPr lang="es-ES" dirty="0"/>
              <a:t>: el filtrado espacial se resuelve con matplotlib.path.Path, sin necesidad de PostGIS para el volumen del proyecto.</a:t>
            </a:r>
          </a:p>
          <a:p>
            <a:r>
              <a:rPr lang="es-ES" dirty="0"/>
              <a:t>En el cliente: </a:t>
            </a:r>
            <a:r>
              <a:rPr lang="es-ES" b="1" dirty="0"/>
              <a:t>Leaflet</a:t>
            </a:r>
            <a:r>
              <a:rPr lang="es-ES" dirty="0"/>
              <a:t> (42 KB, sin clave de API) para mapa, elipses y zonas; </a:t>
            </a:r>
            <a:r>
              <a:rPr lang="es-ES" b="1" dirty="0"/>
              <a:t>PapaParse</a:t>
            </a:r>
            <a:r>
              <a:rPr lang="es-ES" dirty="0"/>
              <a:t> para CSV con detección automática de separador; </a:t>
            </a:r>
            <a:r>
              <a:rPr lang="es-ES" b="1" dirty="0"/>
              <a:t>shpjs</a:t>
            </a:r>
            <a:r>
              <a:rPr lang="es-ES" dirty="0"/>
              <a:t> convierte el Shapefile ZIP a GeoJSON sin pasar por el servidor; </a:t>
            </a:r>
            <a:r>
              <a:rPr lang="es-ES" b="1" dirty="0"/>
              <a:t>Chart.js</a:t>
            </a:r>
            <a:r>
              <a:rPr lang="es-ES" dirty="0"/>
              <a:t> para la gráfica G-R y </a:t>
            </a:r>
            <a:r>
              <a:rPr lang="es-ES" b="1" dirty="0"/>
              <a:t>jsPDF</a:t>
            </a:r>
            <a:r>
              <a:rPr lang="es-ES" dirty="0"/>
              <a:t> genera el informe íntegramente en el navegador.</a:t>
            </a:r>
          </a:p>
          <a:p>
            <a:r>
              <a:rPr lang="es-ES" dirty="0"/>
              <a:t>➡ Enlace: sobre este stack construimos la experiencia de usuario.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Tres temas visuales: claro, oscuro y </a:t>
            </a:r>
            <a:r>
              <a:rPr lang="es-ES" b="1" dirty="0"/>
              <a:t>daltónico con la paleta Okabe-Ito</a:t>
            </a:r>
            <a:r>
              <a:rPr lang="es-ES" dirty="0"/>
              <a:t>, que elimina el rojo y el verde. Se implementan con variables CSS y el atributo data-theme: el cambio es instantáneo, sin recargar la página.</a:t>
            </a:r>
          </a:p>
          <a:p>
            <a:r>
              <a:rPr lang="es-ES" dirty="0"/>
              <a:t>Se suman el sistema </a:t>
            </a:r>
            <a:r>
              <a:rPr lang="es-ES" b="1" dirty="0"/>
              <a:t>multiidioma</a:t>
            </a:r>
            <a:r>
              <a:rPr lang="es-ES" dirty="0"/>
              <a:t> con banderas SVG y el panel lateral </a:t>
            </a:r>
            <a:r>
              <a:rPr lang="es-ES" b="1" dirty="0"/>
              <a:t>colapsable y redimensionable</a:t>
            </a:r>
            <a:r>
              <a:rPr lang="es-ES" dirty="0"/>
              <a:t> con las pestañas Datos y Análisis, más la selección de color para zonas y terremotos.</a:t>
            </a:r>
          </a:p>
          <a:p>
            <a:r>
              <a:rPr lang="es-ES" dirty="0"/>
              <a:t>➡ Enlace: así se concreta en la página de inicio.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dashboard presenta el proyecto antes de entrar al visor: barra institucional con selector de idioma, sección hero, características del visor, </a:t>
            </a:r>
            <a:r>
              <a:rPr lang="es-ES" b="1" dirty="0"/>
              <a:t>especificaciones de los datos de entrada</a:t>
            </a:r>
            <a:r>
              <a:rPr lang="es-ES" dirty="0"/>
              <a:t> y la metodología con las fórmulas de G-R, OLS, MLE y MAXC.</a:t>
            </a:r>
          </a:p>
          <a:p>
            <a:r>
              <a:rPr lang="es-ES" dirty="0"/>
              <a:t>Su función es que el usuario llegue al visor sabiendo exactamente qué formato deben tener su catálogo y sus zonas.</a:t>
            </a:r>
          </a:p>
          <a:p>
            <a:r>
              <a:rPr lang="es-ES" dirty="0"/>
              <a:t>➡ Enlace: pasemos al visor interactivo.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visor combina el mapa Leaflet —terremotos con radio proporcional a la magnitud, </a:t>
            </a:r>
            <a:r>
              <a:rPr lang="es-ES" b="1" dirty="0"/>
              <a:t>elipses de error</a:t>
            </a:r>
            <a:r>
              <a:rPr lang="es-ES" dirty="0"/>
              <a:t> y polígonos de zonas— con el panel lateral de dos pestañas.</a:t>
            </a:r>
          </a:p>
          <a:p>
            <a:r>
              <a:rPr lang="es-ES" dirty="0"/>
              <a:t>En </a:t>
            </a:r>
            <a:r>
              <a:rPr lang="es-ES" b="1" dirty="0"/>
              <a:t>Datos</a:t>
            </a:r>
            <a:r>
              <a:rPr lang="es-ES" dirty="0"/>
              <a:t> se cargan el catálogo CSV, el Shapefile de zonas y la tabla de completitud; en </a:t>
            </a:r>
            <a:r>
              <a:rPr lang="es-ES" b="1" dirty="0"/>
              <a:t>Análisis</a:t>
            </a:r>
            <a:r>
              <a:rPr lang="es-ES" dirty="0"/>
              <a:t> se activan la edición interactiva de epicentros y la gráfica de Gutenberg-Richter con ajuste por </a:t>
            </a:r>
            <a:r>
              <a:rPr lang="es-ES" b="1" dirty="0"/>
              <a:t>OLS y MLE</a:t>
            </a:r>
            <a:r>
              <a:rPr lang="es-ES" dirty="0"/>
              <a:t>, que se recalcula con cada cambio.</a:t>
            </a:r>
          </a:p>
          <a:p>
            <a:r>
              <a:rPr lang="es-ES" dirty="0"/>
              <a:t>➡ Enlace: veamos el flujo de trabajo completo.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flujo típico: preparar el catálogo CSV (date, lat, lon, mw), el Shapefile en ZIP y la tabla de completitud; cargarlos en la pestaña Datos; ajustar filtros de magnitud, profundidad y periodo; seleccionar una zona para calcular </a:t>
            </a:r>
            <a:r>
              <a:rPr lang="es-ES" b="1" dirty="0"/>
              <a:t>G-R por OLS y MLE</a:t>
            </a:r>
            <a:r>
              <a:rPr lang="es-ES" dirty="0"/>
              <a:t>; activar la edición para explorar la sensibilidad; y exportar CSV, GeoJSON o informe PDF.</a:t>
            </a:r>
          </a:p>
          <a:p>
            <a:r>
              <a:rPr lang="es-ES" dirty="0"/>
              <a:t>Todo con </a:t>
            </a:r>
            <a:r>
              <a:rPr lang="es-ES" b="1" dirty="0"/>
              <a:t>validación en cada paso</a:t>
            </a:r>
            <a:r>
              <a:rPr lang="es-ES" dirty="0"/>
              <a:t>: columnas obligatorias, reintento de codificación Windows-1252, ZIP incompleto o zonas con pocos eventos generan avisos concretos.</a:t>
            </a:r>
          </a:p>
          <a:p>
            <a:r>
              <a:rPr lang="es-ES" dirty="0"/>
              <a:t>➡ Enlace: lo aplicamos a un caso real — Centroamérica.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ZMAP+ exige licencia de MATLAB; CRISIS no ajusta la G-R —la pide como dato de entrada—; </a:t>
            </a:r>
            <a:r>
              <a:rPr lang="es-ES" b="1" dirty="0"/>
              <a:t>OpenQuake es lo más próximo, pero no incorpora la incertidumbre espacial</a:t>
            </a:r>
            <a:r>
              <a:rPr lang="es-ES" dirty="0"/>
              <a:t> ni visualización interactiva; ArcGIS Online es de pago y sin módulos sísmicos; los portales IGN/USGS solo visualizan y descargan.</a:t>
            </a:r>
          </a:p>
          <a:p>
            <a:r>
              <a:rPr lang="es-ES" dirty="0"/>
              <a:t>El diferenciador clave es el </a:t>
            </a:r>
            <a:r>
              <a:rPr lang="es-ES" b="1" dirty="0"/>
              <a:t>editor interactivo de epicentros condicionado por elipses de error</a:t>
            </a:r>
            <a:r>
              <a:rPr lang="es-ES" dirty="0"/>
              <a:t>, junto con la ejecución web sin instalación, el software libre, el multiidioma y la corrección de completitud en el ajuste.</a:t>
            </a:r>
          </a:p>
          <a:p>
            <a:r>
              <a:rPr lang="es-ES" dirty="0"/>
              <a:t>➡ Enlace: pasemos a los números del proyecto.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presupuesto simula el coste de un desarrollo profesional equivalente: </a:t>
            </a:r>
            <a:r>
              <a:rPr lang="es-ES" b="1" dirty="0"/>
              <a:t>560 horas de ingeniero junior y 57 de senior</a:t>
            </a:r>
            <a:r>
              <a:rPr lang="es-ES" dirty="0"/>
              <a:t> repartidas en seis fases, del análisis de requisitos a la documentación.</a:t>
            </a:r>
          </a:p>
          <a:p>
            <a:r>
              <a:rPr lang="es-ES" dirty="0"/>
              <a:t>Personal 17.990 €, más hardware, software, otros gastos e indirectos (15 %): subtotal 20.930 € y, con IVA del 21 %, un total de </a:t>
            </a:r>
            <a:r>
              <a:rPr lang="es-ES" b="1" dirty="0"/>
              <a:t>25.325,30 €</a:t>
            </a:r>
            <a:r>
              <a:rPr lang="es-ES" dirty="0"/>
              <a:t> (22.185,80 € líquidos tras la retención de IRPF).</a:t>
            </a:r>
          </a:p>
          <a:p>
            <a:r>
              <a:rPr lang="es-ES" dirty="0"/>
              <a:t>➡ Enlace: situemos estas cifras en su contexto económico.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proyección a cinco años asume un mantenimiento anual de 200 horas junior y 20 senior, con un escenario conservador de ingresos por licencias SaaS y jornadas de consultoría.</a:t>
            </a:r>
          </a:p>
          <a:p>
            <a:r>
              <a:rPr lang="es-ES" dirty="0"/>
              <a:t>El </a:t>
            </a:r>
            <a:r>
              <a:rPr lang="es-ES" b="1" dirty="0"/>
              <a:t>punto de equilibrio llega el segundo año</a:t>
            </a:r>
            <a:r>
              <a:rPr lang="es-ES" dirty="0"/>
              <a:t> (+3.881 €) y el quinquenio cierra con </a:t>
            </a:r>
            <a:r>
              <a:rPr lang="es-ES" b="1" dirty="0"/>
              <a:t>59.689 € de retorno acumulado</a:t>
            </a:r>
            <a:r>
              <a:rPr lang="es-ES" dirty="0"/>
              <a:t> frente a 50.011 € de costes de operación; los ingresos acumulados (109.700 €) superan la inversión total del ciclo de vida (75.337 €).</a:t>
            </a:r>
          </a:p>
          <a:p>
            <a:r>
              <a:rPr lang="es-ES" dirty="0"/>
              <a:t>➡ Enlace: veamos cómo se ha difundido el trabajo.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Tres vías de difusión. Un </a:t>
            </a:r>
            <a:r>
              <a:rPr lang="es-ES" b="1" dirty="0"/>
              <a:t>póster en la XII Asamblea Hispano-Portuguesa de Geodesia y Geofísica</a:t>
            </a:r>
            <a:r>
              <a:rPr lang="es-ES" dirty="0"/>
              <a:t> (junio 2026, ETSI Topografía de la UPM, sesión S02 de Sismología), con código QR a la plataforma en producción y publicación en las actas oficiales.</a:t>
            </a:r>
          </a:p>
          <a:p>
            <a:r>
              <a:rPr lang="es-ES" dirty="0"/>
              <a:t>Una </a:t>
            </a:r>
            <a:r>
              <a:rPr lang="es-ES" b="1" dirty="0"/>
              <a:t>demostración funcional en el comité mensual de NTT DATA</a:t>
            </a:r>
            <a:r>
              <a:rPr lang="es-ES" dirty="0"/>
              <a:t>, recorriendo el flujo completo en directo, y un </a:t>
            </a:r>
            <a:r>
              <a:rPr lang="es-ES" b="1" dirty="0"/>
              <a:t>artículo para la revista Mapping</a:t>
            </a:r>
            <a:r>
              <a:rPr lang="es-ES" dirty="0"/>
              <a:t> centrado en la arquitectura open-source y la edición interactiva condicionada por incertidumbres.</a:t>
            </a:r>
          </a:p>
          <a:p>
            <a:r>
              <a:rPr lang="es-ES" dirty="0"/>
              <a:t>➡ Enlace: cerramos con las conclusiones.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resultado es un geoportal que integra en un único entorno catálogos, zonas, completitud y elipses de error, con ajuste G-R por OLS y MLE, y capacidad para </a:t>
            </a:r>
            <a:r>
              <a:rPr lang="es-ES" b="1" dirty="0"/>
              <a:t>catálogos de hasta 100.000 eventos</a:t>
            </a:r>
            <a:r>
              <a:rPr lang="es-ES" dirty="0"/>
              <a:t>.</a:t>
            </a:r>
          </a:p>
          <a:p>
            <a:r>
              <a:rPr lang="es-ES" dirty="0"/>
              <a:t>Los resultados muestran que la incertidumbre de localización puede cambiar la composición de los catálogos por zona y, con ello, los modelos de recurrencia; el geoportal permite evaluar ese efecto de forma transparente y reproducible.</a:t>
            </a:r>
          </a:p>
          <a:p>
            <a:r>
              <a:rPr lang="es-ES" dirty="0"/>
              <a:t>Limitaciones reconocidas: SQLite por encima de 100.000 eventos —migrar a </a:t>
            </a:r>
            <a:r>
              <a:rPr lang="es-ES" b="1" dirty="0"/>
              <a:t>PostgreSQL/PostGIS</a:t>
            </a:r>
            <a:r>
              <a:rPr lang="es-ES" dirty="0"/>
              <a:t>—, solo fuentes tipo zona, sensibilidad de Mc al método MAXC y el método de Weichert aún fuera de la interfaz.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Tres líneas futuras: incorporar </a:t>
            </a:r>
            <a:r>
              <a:rPr lang="es-ES" b="1" dirty="0"/>
              <a:t>algoritmos de declustering</a:t>
            </a:r>
            <a:r>
              <a:rPr lang="es-ES" dirty="0"/>
              <a:t> para separar principales, réplicas y enjambres dentro de la plataforma, preparando catálogos válidos bajo hipótesis poissonianas.</a:t>
            </a:r>
          </a:p>
          <a:p>
            <a:r>
              <a:rPr lang="es-ES" dirty="0"/>
              <a:t>Estimar la incertidumbre de localización cuando el catálogo no incluya elipses, a partir de magnitud, año, profundidad o densidad de la red sísmica.</a:t>
            </a:r>
          </a:p>
          <a:p>
            <a:r>
              <a:rPr lang="es-ES" dirty="0"/>
              <a:t>Y exportar los modelos de fuentes en </a:t>
            </a:r>
            <a:r>
              <a:rPr lang="es-ES" b="1" dirty="0"/>
              <a:t>formato compatible con OpenQuake</a:t>
            </a:r>
            <a:r>
              <a:rPr lang="es-ES" dirty="0"/>
              <a:t> —geometría, parámetros de recurrencia y magnitud máxima— para integrarse directamente en cálculos probabilistas de peligrosidad.</a:t>
            </a:r>
          </a:p>
          <a:p>
            <a:r>
              <a:rPr lang="es-ES" dirty="0"/>
              <a:t>➡ Enlace: con esto concluyo la presentación.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1. SQLite:</a:t>
            </a:r>
            <a:r>
              <a:rPr lang="es-ES" dirty="0"/>
              <a:t> no había requisitos que justificaran un motor mayor; sin instalación, todo en un archivo. El filtrado espacial se hace con matplotlib.path.Path (contains_points sobre arrays NumPy), casi instantáneo. Límite documentado ~100.000 eventos; la migración a PostgreSQL/PostGIS está prevista como línea futura.</a:t>
            </a:r>
          </a:p>
          <a:p>
            <a:r>
              <a:rPr lang="es-ES" b="1" dirty="0"/>
              <a:t>2. Leaflet:</a:t>
            </a:r>
            <a:r>
              <a:rPr lang="es-ES" dirty="0"/>
              <a:t> 42 KB, documentación excelente y OpenStreetMap sin clave de API. OpenLayers es más complejo de lo necesario y Mapbox GL exige API key con restricciones en su capa gratuita.</a:t>
            </a:r>
          </a:p>
          <a:p>
            <a:r>
              <a:rPr lang="es-ES" b="1" dirty="0"/>
              <a:t>3. CSV:</a:t>
            </a:r>
            <a:r>
              <a:rPr lang="es-ES" dirty="0"/>
              <a:t> PapaParse detecta automáticamente el separador (coma, punto y coma, tabulador); map-load.js normaliza los nombres de columna (ISC-GEM, IGN); si UTF-8 produce caracteres de sustitución se reintenta como Windows-1252; se validan las columnas obligatorias con mensajes concretos.</a:t>
            </a:r>
          </a:p>
          <a:p>
            <a:r>
              <a:rPr lang="es-ES" b="1" dirty="0"/>
              <a:t>4. Cliente/servidor:</a:t>
            </a:r>
            <a:r>
              <a:rPr lang="es-ES" dirty="0"/>
              <a:t> shpjs y jsPDF trabajan íntegramente en el navegador (el Shapefile nunca llega al servidor); el análisis pesado va al servidor con pandas/NumPy; geopy calcula distancias geodésicas WGS-84 para Gardner-Knopoff — la distancia euclídea sería incorrecta lejos del ecuador.</a:t>
            </a:r>
          </a:p>
          <a:p>
            <a:r>
              <a:rPr lang="es-ES" b="1" dirty="0"/>
              <a:t>5. OLS vs MLE:</a:t>
            </a:r>
            <a:r>
              <a:rPr lang="es-ES" dirty="0"/>
              <a:t> MLE (estimador Aki-Utsu) es más estable con catálogos moderados (N &lt; 100). Sensibilidad: ±0,1 en Mc puede cambiar b en ±0,05; por eso se recomienda revisar el histograma y ajustar Mc manualmente. El geoportal permite comparar ambos métodos sobre la misma zona.</a:t>
            </a:r>
          </a:p>
          <a:p>
            <a:r>
              <a:rPr lang="es-ES" b="1" dirty="0"/>
              <a:t>6. Validación:</a:t>
            </a:r>
            <a:r>
              <a:rPr lang="es-ES" dirty="0"/>
              <a:t> es una limitación reconocida en la memoria; se priorizó el prototipo funcional. Los cálculos se validaron comparando con estudios de referencia publicados (resultados coherentes con la bibliografía en Centroamérica). Añadir tests unitarios es parte del trabajo futuro.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C234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33475B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rpetkova.pythonanywhere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D88C00B-8EF6-4C58-8258-C45BE6DA8962}"/>
              </a:ext>
            </a:extLst>
          </p:cNvPr>
          <p:cNvSpPr/>
          <p:nvPr/>
        </p:nvSpPr>
        <p:spPr>
          <a:xfrm>
            <a:off x="7112000" y="3175000"/>
            <a:ext cx="4064000" cy="4064000"/>
          </a:xfrm>
          <a:prstGeom prst="ellipse">
            <a:avLst/>
          </a:prstGeom>
          <a:noFill/>
          <a:ln w="31750" cap="flat" cmpd="sng" algn="ctr">
            <a:solidFill>
              <a:srgbClr val="1B5F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20BCC7E-B4A8-4758-B1BA-A36943908433}"/>
              </a:ext>
            </a:extLst>
          </p:cNvPr>
          <p:cNvSpPr/>
          <p:nvPr/>
        </p:nvSpPr>
        <p:spPr>
          <a:xfrm>
            <a:off x="7620000" y="3683000"/>
            <a:ext cx="3048000" cy="3048000"/>
          </a:xfrm>
          <a:prstGeom prst="ellipse">
            <a:avLst/>
          </a:prstGeom>
          <a:noFill/>
          <a:ln w="2540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079A61F-1EFF-42A4-9ABB-9A057E9DF1F5}"/>
              </a:ext>
            </a:extLst>
          </p:cNvPr>
          <p:cNvSpPr/>
          <p:nvPr/>
        </p:nvSpPr>
        <p:spPr>
          <a:xfrm>
            <a:off x="8064500" y="4127500"/>
            <a:ext cx="2159000" cy="2159000"/>
          </a:xfrm>
          <a:prstGeom prst="ellipse">
            <a:avLst/>
          </a:prstGeom>
          <a:noFill/>
          <a:ln w="19050" cap="flat" cmpd="sng" algn="ctr">
            <a:solidFill>
              <a:srgbClr val="9FC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27DC900-0007-477D-81B8-9189B6EE5D8A}"/>
              </a:ext>
            </a:extLst>
          </p:cNvPr>
          <p:cNvSpPr/>
          <p:nvPr/>
        </p:nvSpPr>
        <p:spPr>
          <a:xfrm>
            <a:off x="8445500" y="4508500"/>
            <a:ext cx="1397000" cy="1397000"/>
          </a:xfrm>
          <a:prstGeom prst="ellipse">
            <a:avLst/>
          </a:prstGeom>
          <a:noFill/>
          <a:ln w="12700" cap="flat" cmpd="sng" algn="ctr">
            <a:solidFill>
              <a:srgbClr val="9FC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2C1922-03D7-499B-A759-89465D8C94BA}"/>
              </a:ext>
            </a:extLst>
          </p:cNvPr>
          <p:cNvSpPr/>
          <p:nvPr/>
        </p:nvSpPr>
        <p:spPr>
          <a:xfrm>
            <a:off x="685800" y="1219200"/>
            <a:ext cx="685800" cy="635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9B8C41-10E9-4192-AC85-B585DBEEA283}"/>
              </a:ext>
            </a:extLst>
          </p:cNvPr>
          <p:cNvSpPr txBox="1"/>
          <p:nvPr/>
        </p:nvSpPr>
        <p:spPr>
          <a:xfrm>
            <a:off x="685800" y="838200"/>
            <a:ext cx="6858000" cy="30777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00" b="1" dirty="0">
                <a:solidFill>
                  <a:srgbClr val="9FC3EA"/>
                </a:solidFill>
                <a:latin typeface="Montserrat"/>
              </a:rPr>
              <a:t>TRABAJO FIN DE GRADO, UPM, JULIO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D6B0B4-0E31-4341-B056-B2BDA105D7BC}"/>
              </a:ext>
            </a:extLst>
          </p:cNvPr>
          <p:cNvSpPr txBox="1"/>
          <p:nvPr/>
        </p:nvSpPr>
        <p:spPr>
          <a:xfrm>
            <a:off x="685800" y="1473200"/>
            <a:ext cx="7620000" cy="18158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 dirty="0">
                <a:solidFill>
                  <a:srgbClr val="FFFFFF"/>
                </a:solidFill>
                <a:latin typeface="Montserrat"/>
              </a:rPr>
              <a:t>Desarrollo de un </a:t>
            </a:r>
            <a:r>
              <a:rPr lang="es-ES" sz="2800" b="1" dirty="0" err="1">
                <a:solidFill>
                  <a:srgbClr val="FFFFFF"/>
                </a:solidFill>
                <a:latin typeface="Montserrat"/>
              </a:rPr>
              <a:t>geoportal</a:t>
            </a:r>
            <a:r>
              <a:rPr lang="es-ES" sz="2800" b="1" dirty="0">
                <a:solidFill>
                  <a:srgbClr val="FFFFFF"/>
                </a:solidFill>
                <a:latin typeface="Montserrat"/>
              </a:rPr>
              <a:t> web para el ajuste de modelos de recurrencia sísmica considerando la incertidumbre espacial de los eventos sísmicos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2CD8A8A-3DF7-4D03-A2AB-11CA4ED81AB4}"/>
              </a:ext>
            </a:extLst>
          </p:cNvPr>
          <p:cNvSpPr/>
          <p:nvPr/>
        </p:nvSpPr>
        <p:spPr>
          <a:xfrm>
            <a:off x="685800" y="3632200"/>
            <a:ext cx="3810000" cy="25400"/>
          </a:xfrm>
          <a:prstGeom prst="rect">
            <a:avLst/>
          </a:prstGeom>
          <a:solidFill>
            <a:srgbClr val="2A4A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9E9344-5838-461E-B8E1-842F37D284B8}"/>
              </a:ext>
            </a:extLst>
          </p:cNvPr>
          <p:cNvSpPr txBox="1"/>
          <p:nvPr/>
        </p:nvSpPr>
        <p:spPr>
          <a:xfrm>
            <a:off x="685800" y="3810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900" b="1">
                <a:solidFill>
                  <a:srgbClr val="FFFFFF"/>
                </a:solidFill>
                <a:latin typeface="Montserrat"/>
              </a:rPr>
              <a:t>Hristiyana Petkova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F46A1DB-CDAE-4234-8A5E-4B481C9F83EC}"/>
              </a:ext>
            </a:extLst>
          </p:cNvPr>
          <p:cNvSpPr txBox="1"/>
          <p:nvPr/>
        </p:nvSpPr>
        <p:spPr>
          <a:xfrm>
            <a:off x="685800" y="41656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00">
                <a:solidFill>
                  <a:srgbClr val="BCD6F0"/>
                </a:solidFill>
                <a:latin typeface="Calibri"/>
                <a:ea typeface="Calibri"/>
                <a:cs typeface="Calibri"/>
              </a:rPr>
              <a:t>Tutores:  Alicia Rivas Medina, Ramón P. Alcarria Garrido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4856A2-347F-4C64-8065-0A489E87B33B}"/>
              </a:ext>
            </a:extLst>
          </p:cNvPr>
          <p:cNvSpPr txBox="1"/>
          <p:nvPr/>
        </p:nvSpPr>
        <p:spPr>
          <a:xfrm>
            <a:off x="685800" y="44450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050">
                <a:solidFill>
                  <a:srgbClr val="9FC3EA"/>
                </a:solidFill>
                <a:latin typeface="Calibri"/>
                <a:ea typeface="Calibri"/>
                <a:cs typeface="Calibri"/>
              </a:rPr>
              <a:t>E.T.S.I. en Topografía, Geodesia y Cartografía
Grado en Ingeniería de las Tecnologías de la Información Geoespacial</a:t>
            </a:r>
          </a:p>
        </p:txBody>
      </p:sp>
    </p:spTree>
    <p:extLst>
      <p:ext uri="{BB962C8B-B14F-4D97-AF65-F5344CB8AC3E}">
        <p14:creationId xmlns:p14="http://schemas.microsoft.com/office/powerpoint/2010/main" val="31214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86687421-E942-45AF-A81E-38B7441AC47F}"/>
              </a:ext>
            </a:extLst>
          </p:cNvPr>
          <p:cNvSpPr txBox="1"/>
          <p:nvPr/>
        </p:nvSpPr>
        <p:spPr>
          <a:xfrm>
            <a:off x="685800" y="762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Índice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89AAB98-4844-47F7-935E-7D4D1581DEE2}"/>
              </a:ext>
            </a:extLst>
          </p:cNvPr>
          <p:cNvSpPr/>
          <p:nvPr/>
        </p:nvSpPr>
        <p:spPr>
          <a:xfrm>
            <a:off x="711200" y="1320800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F57150F-7F78-4CD3-800E-864CE9EFDD28}"/>
              </a:ext>
            </a:extLst>
          </p:cNvPr>
          <p:cNvSpPr/>
          <p:nvPr/>
        </p:nvSpPr>
        <p:spPr>
          <a:xfrm>
            <a:off x="685800" y="17272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9DE4654-BC48-45B2-AB7F-5F1510899B42}"/>
              </a:ext>
            </a:extLst>
          </p:cNvPr>
          <p:cNvSpPr txBox="1"/>
          <p:nvPr/>
        </p:nvSpPr>
        <p:spPr>
          <a:xfrm>
            <a:off x="838200" y="18288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91A19746-DEAF-40E1-BA14-09AB3F72B0ED}"/>
              </a:ext>
            </a:extLst>
          </p:cNvPr>
          <p:cNvSpPr/>
          <p:nvPr/>
        </p:nvSpPr>
        <p:spPr>
          <a:xfrm>
            <a:off x="1333500" y="1955800"/>
            <a:ext cx="533400" cy="5334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4C64FB4-D5C1-46D4-8C71-F5B9645599BC}"/>
              </a:ext>
            </a:extLst>
          </p:cNvPr>
          <p:cNvSpPr txBox="1"/>
          <p:nvPr/>
        </p:nvSpPr>
        <p:spPr>
          <a:xfrm>
            <a:off x="787400" y="25908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Montserrat"/>
              </a:rPr>
              <a:t>Motivación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B3D4970-7040-4684-BD01-896B94479B7D}"/>
              </a:ext>
            </a:extLst>
          </p:cNvPr>
          <p:cNvSpPr txBox="1"/>
          <p:nvPr/>
        </p:nvSpPr>
        <p:spPr>
          <a:xfrm>
            <a:off x="787400" y="28702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y objetivos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971E64B-AC66-4F93-8AF5-849808FF1876}"/>
              </a:ext>
            </a:extLst>
          </p:cNvPr>
          <p:cNvSpPr/>
          <p:nvPr/>
        </p:nvSpPr>
        <p:spPr>
          <a:xfrm>
            <a:off x="2667000" y="17272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55A53D2-6132-48DF-A1F3-5F72B0B10B4E}"/>
              </a:ext>
            </a:extLst>
          </p:cNvPr>
          <p:cNvSpPr txBox="1"/>
          <p:nvPr/>
        </p:nvSpPr>
        <p:spPr>
          <a:xfrm>
            <a:off x="2819400" y="18288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02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4F7E130-5892-4490-9B6C-22582365EE01}"/>
              </a:ext>
            </a:extLst>
          </p:cNvPr>
          <p:cNvSpPr/>
          <p:nvPr/>
        </p:nvSpPr>
        <p:spPr>
          <a:xfrm>
            <a:off x="3314700" y="1955800"/>
            <a:ext cx="533400" cy="5334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68C2DC9-6D53-4341-81FB-F459A2DF1C5F}"/>
              </a:ext>
            </a:extLst>
          </p:cNvPr>
          <p:cNvSpPr txBox="1"/>
          <p:nvPr/>
        </p:nvSpPr>
        <p:spPr>
          <a:xfrm>
            <a:off x="2768600" y="25908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Fundamentos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5FCE31A-2109-41CE-832B-A193B8E02309}"/>
              </a:ext>
            </a:extLst>
          </p:cNvPr>
          <p:cNvSpPr txBox="1"/>
          <p:nvPr/>
        </p:nvSpPr>
        <p:spPr>
          <a:xfrm>
            <a:off x="2768600" y="28702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teóricos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8207F2E5-1D28-43D4-B7C1-E8F174612525}"/>
              </a:ext>
            </a:extLst>
          </p:cNvPr>
          <p:cNvSpPr/>
          <p:nvPr/>
        </p:nvSpPr>
        <p:spPr>
          <a:xfrm>
            <a:off x="4648200" y="17272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9EDEE85-9C44-45A0-81ED-63144761665B}"/>
              </a:ext>
            </a:extLst>
          </p:cNvPr>
          <p:cNvSpPr txBox="1"/>
          <p:nvPr/>
        </p:nvSpPr>
        <p:spPr>
          <a:xfrm>
            <a:off x="4800600" y="18288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03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0CF679A-B844-4549-95A3-C62F2290E34D}"/>
              </a:ext>
            </a:extLst>
          </p:cNvPr>
          <p:cNvSpPr/>
          <p:nvPr/>
        </p:nvSpPr>
        <p:spPr>
          <a:xfrm>
            <a:off x="5295900" y="1955800"/>
            <a:ext cx="533400" cy="5334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085C823-6F34-4751-A6C9-500593124D36}"/>
              </a:ext>
            </a:extLst>
          </p:cNvPr>
          <p:cNvSpPr txBox="1"/>
          <p:nvPr/>
        </p:nvSpPr>
        <p:spPr>
          <a:xfrm>
            <a:off x="4749800" y="25908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Arquitectura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9B99DF1-F5D2-4A1E-B5EA-D68C27150F3A}"/>
              </a:ext>
            </a:extLst>
          </p:cNvPr>
          <p:cNvSpPr txBox="1"/>
          <p:nvPr/>
        </p:nvSpPr>
        <p:spPr>
          <a:xfrm>
            <a:off x="4749800" y="28702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y tecnología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00E8437-ED5B-4238-B7C5-2BC97027968E}"/>
              </a:ext>
            </a:extLst>
          </p:cNvPr>
          <p:cNvSpPr/>
          <p:nvPr/>
        </p:nvSpPr>
        <p:spPr>
          <a:xfrm>
            <a:off x="6629400" y="17272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3CA3F92-D054-4E54-8FE5-782B736F8CEE}"/>
              </a:ext>
            </a:extLst>
          </p:cNvPr>
          <p:cNvSpPr txBox="1"/>
          <p:nvPr/>
        </p:nvSpPr>
        <p:spPr>
          <a:xfrm>
            <a:off x="6781800" y="18288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2C25B5B-A056-47AD-991A-6F029247AA8F}"/>
              </a:ext>
            </a:extLst>
          </p:cNvPr>
          <p:cNvSpPr/>
          <p:nvPr/>
        </p:nvSpPr>
        <p:spPr>
          <a:xfrm>
            <a:off x="7277100" y="1955800"/>
            <a:ext cx="533400" cy="5334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10B63C0-2B1E-4588-AFA2-BEAC1D4FD4CA}"/>
              </a:ext>
            </a:extLst>
          </p:cNvPr>
          <p:cNvSpPr txBox="1"/>
          <p:nvPr/>
        </p:nvSpPr>
        <p:spPr>
          <a:xfrm>
            <a:off x="6731000" y="25908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Funcionamiento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9677813-733A-4E21-AE8B-E43B991C9094}"/>
              </a:ext>
            </a:extLst>
          </p:cNvPr>
          <p:cNvSpPr txBox="1"/>
          <p:nvPr/>
        </p:nvSpPr>
        <p:spPr>
          <a:xfrm>
            <a:off x="6731000" y="28702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del geoportal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BA4E4233-2A0C-44E5-93A3-FFB34DF89802}"/>
              </a:ext>
            </a:extLst>
          </p:cNvPr>
          <p:cNvSpPr/>
          <p:nvPr/>
        </p:nvSpPr>
        <p:spPr>
          <a:xfrm>
            <a:off x="685800" y="33274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AD550AF-AA8A-4BD4-91B4-4F1DA1690495}"/>
              </a:ext>
            </a:extLst>
          </p:cNvPr>
          <p:cNvSpPr txBox="1"/>
          <p:nvPr/>
        </p:nvSpPr>
        <p:spPr>
          <a:xfrm>
            <a:off x="838200" y="3429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05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E1B76561-0CD9-4BDD-93DC-DA350566AC80}"/>
              </a:ext>
            </a:extLst>
          </p:cNvPr>
          <p:cNvSpPr/>
          <p:nvPr/>
        </p:nvSpPr>
        <p:spPr>
          <a:xfrm>
            <a:off x="1333500" y="3556000"/>
            <a:ext cx="533400" cy="5334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4C407F16-ADB0-43FD-B7AC-BE58951FC620}"/>
              </a:ext>
            </a:extLst>
          </p:cNvPr>
          <p:cNvSpPr txBox="1"/>
          <p:nvPr/>
        </p:nvSpPr>
        <p:spPr>
          <a:xfrm>
            <a:off x="787400" y="4191000"/>
            <a:ext cx="1063112" cy="29238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Resultado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84C05C7-1C1B-4079-BDC8-3C1ACE72AAF8}"/>
              </a:ext>
            </a:extLst>
          </p:cNvPr>
          <p:cNvSpPr txBox="1"/>
          <p:nvPr/>
        </p:nvSpPr>
        <p:spPr>
          <a:xfrm>
            <a:off x="787400" y="44704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caso de aplicación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F9E51801-917B-45F2-ACEF-C876D12918A9}"/>
              </a:ext>
            </a:extLst>
          </p:cNvPr>
          <p:cNvSpPr/>
          <p:nvPr/>
        </p:nvSpPr>
        <p:spPr>
          <a:xfrm>
            <a:off x="2667000" y="33274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F7A1743-2152-4353-81BC-3307922D5877}"/>
              </a:ext>
            </a:extLst>
          </p:cNvPr>
          <p:cNvSpPr txBox="1"/>
          <p:nvPr/>
        </p:nvSpPr>
        <p:spPr>
          <a:xfrm>
            <a:off x="2819400" y="3429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19BDC03D-3C25-417C-8CFA-1824744119BF}"/>
              </a:ext>
            </a:extLst>
          </p:cNvPr>
          <p:cNvSpPr/>
          <p:nvPr/>
        </p:nvSpPr>
        <p:spPr>
          <a:xfrm>
            <a:off x="3314700" y="3556000"/>
            <a:ext cx="533400" cy="5334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90FF78D-F720-4030-B72A-FE3863EFC205}"/>
              </a:ext>
            </a:extLst>
          </p:cNvPr>
          <p:cNvSpPr txBox="1"/>
          <p:nvPr/>
        </p:nvSpPr>
        <p:spPr>
          <a:xfrm>
            <a:off x="2768600" y="41910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Mercado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2C34F13-8676-4527-AF6F-A259E95B7DD9}"/>
              </a:ext>
            </a:extLst>
          </p:cNvPr>
          <p:cNvSpPr txBox="1"/>
          <p:nvPr/>
        </p:nvSpPr>
        <p:spPr>
          <a:xfrm>
            <a:off x="2768600" y="44704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análisis competitivo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2C82699C-3BE9-4713-810D-04DF090663D1}"/>
              </a:ext>
            </a:extLst>
          </p:cNvPr>
          <p:cNvSpPr/>
          <p:nvPr/>
        </p:nvSpPr>
        <p:spPr>
          <a:xfrm>
            <a:off x="4648200" y="33274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537C753-A6B8-4DBB-99C7-70B601BD9879}"/>
              </a:ext>
            </a:extLst>
          </p:cNvPr>
          <p:cNvSpPr txBox="1"/>
          <p:nvPr/>
        </p:nvSpPr>
        <p:spPr>
          <a:xfrm>
            <a:off x="4800600" y="3429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07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21118BA-6990-42E3-B659-F94555CB0DA2}"/>
              </a:ext>
            </a:extLst>
          </p:cNvPr>
          <p:cNvSpPr/>
          <p:nvPr/>
        </p:nvSpPr>
        <p:spPr>
          <a:xfrm>
            <a:off x="5295900" y="3556000"/>
            <a:ext cx="533400" cy="5334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24F7257-C661-4D39-A486-1C686725E75C}"/>
              </a:ext>
            </a:extLst>
          </p:cNvPr>
          <p:cNvSpPr txBox="1"/>
          <p:nvPr/>
        </p:nvSpPr>
        <p:spPr>
          <a:xfrm>
            <a:off x="4749800" y="4191000"/>
            <a:ext cx="16256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Montserrat"/>
              </a:rPr>
              <a:t>Presupuesto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5B3D740-9E22-4A76-B9F3-D0221758C24A}"/>
              </a:ext>
            </a:extLst>
          </p:cNvPr>
          <p:cNvSpPr txBox="1"/>
          <p:nvPr/>
        </p:nvSpPr>
        <p:spPr>
          <a:xfrm>
            <a:off x="4749800" y="4470400"/>
            <a:ext cx="162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costes del proyecto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2D7FF210-5E72-46DA-97A5-3779671FF4F0}"/>
              </a:ext>
            </a:extLst>
          </p:cNvPr>
          <p:cNvSpPr/>
          <p:nvPr/>
        </p:nvSpPr>
        <p:spPr>
          <a:xfrm>
            <a:off x="6629400" y="3327400"/>
            <a:ext cx="18288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4F901BA-47EF-478B-BEC8-E1C6916D2D79}"/>
              </a:ext>
            </a:extLst>
          </p:cNvPr>
          <p:cNvSpPr txBox="1"/>
          <p:nvPr/>
        </p:nvSpPr>
        <p:spPr>
          <a:xfrm>
            <a:off x="6781800" y="3429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>
                <a:solidFill>
                  <a:srgbClr val="9FC3EA"/>
                </a:solidFill>
                <a:latin typeface="Montserrat"/>
              </a:rPr>
              <a:t>08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684EF614-DACA-4370-95D9-498CB0BAE6B8}"/>
              </a:ext>
            </a:extLst>
          </p:cNvPr>
          <p:cNvSpPr/>
          <p:nvPr/>
        </p:nvSpPr>
        <p:spPr>
          <a:xfrm>
            <a:off x="7277100" y="3556000"/>
            <a:ext cx="533400" cy="5334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8A52E64-B6D8-4210-85F5-D690BAA11D16}"/>
              </a:ext>
            </a:extLst>
          </p:cNvPr>
          <p:cNvSpPr txBox="1"/>
          <p:nvPr/>
        </p:nvSpPr>
        <p:spPr>
          <a:xfrm>
            <a:off x="6731000" y="4191000"/>
            <a:ext cx="912429" cy="29238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0C2340"/>
                </a:solidFill>
                <a:latin typeface="Montserrat"/>
              </a:rPr>
              <a:t>Difusión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A063862-2000-419E-A52D-08E86DD9BFC6}"/>
              </a:ext>
            </a:extLst>
          </p:cNvPr>
          <p:cNvSpPr txBox="1"/>
          <p:nvPr/>
        </p:nvSpPr>
        <p:spPr>
          <a:xfrm>
            <a:off x="6731000" y="4470400"/>
            <a:ext cx="1625600" cy="26930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y conclusiones</a:t>
            </a:r>
          </a:p>
        </p:txBody>
      </p:sp>
      <p:pic>
        <p:nvPicPr>
          <p:cNvPr id="64" name="Graphic 64" descr="Motivació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2070100"/>
            <a:ext cx="304800" cy="304800"/>
          </a:xfrm>
          <a:prstGeom prst="rect">
            <a:avLst/>
          </a:prstGeom>
        </p:spPr>
      </p:pic>
      <p:pic>
        <p:nvPicPr>
          <p:cNvPr id="65" name="Graphic 65" descr="Fundament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2070100"/>
            <a:ext cx="304800" cy="304800"/>
          </a:xfrm>
          <a:prstGeom prst="rect">
            <a:avLst/>
          </a:prstGeom>
        </p:spPr>
      </p:pic>
      <p:pic>
        <p:nvPicPr>
          <p:cNvPr id="66" name="Graphic 66" descr="Arquitectu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200" y="2070100"/>
            <a:ext cx="304800" cy="304800"/>
          </a:xfrm>
          <a:prstGeom prst="rect">
            <a:avLst/>
          </a:prstGeom>
        </p:spPr>
      </p:pic>
      <p:pic>
        <p:nvPicPr>
          <p:cNvPr id="68" name="Graphic 68" descr="Resultad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7800" y="3670300"/>
            <a:ext cx="304800" cy="304800"/>
          </a:xfrm>
          <a:prstGeom prst="rect">
            <a:avLst/>
          </a:prstGeom>
        </p:spPr>
      </p:pic>
      <p:pic>
        <p:nvPicPr>
          <p:cNvPr id="69" name="Graphic 69" descr="Mercad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3670300"/>
            <a:ext cx="304800" cy="304800"/>
          </a:xfrm>
          <a:prstGeom prst="rect">
            <a:avLst/>
          </a:prstGeom>
        </p:spPr>
      </p:pic>
      <p:pic>
        <p:nvPicPr>
          <p:cNvPr id="3" name="Gráfico 2" descr="Engranajes contorno">
            <a:extLst>
              <a:ext uri="{FF2B5EF4-FFF2-40B4-BE49-F238E27FC236}">
                <a16:creationId xmlns:a16="http://schemas.microsoft.com/office/drawing/2014/main" id="{4CF2F84B-D40B-FCDD-4FCE-F1A0D5319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6950" y="2014903"/>
            <a:ext cx="406400" cy="406400"/>
          </a:xfrm>
          <a:prstGeom prst="rect">
            <a:avLst/>
          </a:prstGeom>
        </p:spPr>
      </p:pic>
      <p:pic>
        <p:nvPicPr>
          <p:cNvPr id="5" name="Gráfico 4" descr="Dinero contorno">
            <a:extLst>
              <a:ext uri="{FF2B5EF4-FFF2-40B4-BE49-F238E27FC236}">
                <a16:creationId xmlns:a16="http://schemas.microsoft.com/office/drawing/2014/main" id="{613C97B4-DABD-B7D2-FE12-5B2E49E6E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6435" y="3642463"/>
            <a:ext cx="372330" cy="332637"/>
          </a:xfrm>
          <a:prstGeom prst="rect">
            <a:avLst/>
          </a:prstGeom>
        </p:spPr>
      </p:pic>
      <p:pic>
        <p:nvPicPr>
          <p:cNvPr id="7" name="Gráfico 6" descr="Podcast contorno">
            <a:extLst>
              <a:ext uri="{FF2B5EF4-FFF2-40B4-BE49-F238E27FC236}">
                <a16:creationId xmlns:a16="http://schemas.microsoft.com/office/drawing/2014/main" id="{021D157D-3183-3396-B7E4-63D1C4456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3815" y="3652715"/>
            <a:ext cx="339970" cy="339970"/>
          </a:xfrm>
          <a:prstGeom prst="rect">
            <a:avLst/>
          </a:prstGeom>
        </p:spPr>
      </p:pic>
      <p:sp>
        <p:nvSpPr>
          <p:cNvPr id="4" name="PageNumberBadge">
            <a:extLst>
              <a:ext uri="{FF2B5EF4-FFF2-40B4-BE49-F238E27FC236}">
                <a16:creationId xmlns:a16="http://schemas.microsoft.com/office/drawing/2014/main" id="{7B4D9A88-8D94-4EBF-984E-E7968129C0CC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937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C5B450-7EEF-D092-C8CC-096BC596A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0"/>
            <a:ext cx="7705618" cy="5143500"/>
          </a:xfrm>
          <a:prstGeom prst="rect">
            <a:avLst/>
          </a:prstGeom>
        </p:spPr>
      </p:pic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4D76B81-D1C5-3517-77E0-617A2910F858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E2DAF74-5BFF-C4FB-ED50-D2EB0988C7DF}"/>
              </a:ext>
            </a:extLst>
          </p:cNvPr>
          <p:cNvSpPr/>
          <p:nvPr/>
        </p:nvSpPr>
        <p:spPr>
          <a:xfrm>
            <a:off x="-293268" y="1994408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712A28-E253-50BC-C5DA-AAEA677D3623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25734CA-E320-24C7-E785-A2C988875DB8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A63D8EC-C074-B299-8054-57BEF7C2D58F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ADAFA1F-189D-50C9-6A40-E04966263E15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45AC4EC-1745-C597-3487-F34CC485A18B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Motivación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4CF25DE-761E-4837-BCEC-1D15941DCDD8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1B9266D-2CD6-585C-1449-CE0F3E4703B8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F55BFF6-3311-2DEE-6466-375A123A3C22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1EBAB18-61BB-1E69-64A3-D508234202F2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5ADA9B6-DA2A-AE4A-CEC7-15FB17869853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C68A1837-60FD-4E96-B1DD-DB58803FC5A6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583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A0CC39-1BAE-A9F1-E62F-71A51183A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-2235"/>
            <a:ext cx="7718603" cy="5145735"/>
          </a:xfrm>
          <a:prstGeom prst="rect">
            <a:avLst/>
          </a:prstGeom>
        </p:spPr>
      </p:pic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68680664-AB67-ABE2-56EC-DDE705E7F341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ángulo: esquinas redondeadas 112">
            <a:extLst>
              <a:ext uri="{FF2B5EF4-FFF2-40B4-BE49-F238E27FC236}">
                <a16:creationId xmlns:a16="http://schemas.microsoft.com/office/drawing/2014/main" id="{91EE2860-A78E-BE0F-ACF7-E9E2B131EAAF}"/>
              </a:ext>
            </a:extLst>
          </p:cNvPr>
          <p:cNvSpPr/>
          <p:nvPr/>
        </p:nvSpPr>
        <p:spPr>
          <a:xfrm>
            <a:off x="-293268" y="1994408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8D37EF68-0DC6-F14C-112E-E1CC94CBEAB8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D83533FF-B198-BCF7-6909-3A019524D3DB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A09FC988-8223-A41E-9110-1995B84D473C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FD44F800-B62A-8FB7-991A-A69D610DAC73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F989D5B1-3C0C-701B-D9EB-323ED8FD9DB7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Motivación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416FD3E3-F29C-BC3E-98D1-5D388C9FA652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D4D4B2C9-BF20-9572-6A20-4188B3D99B0D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ECF79906-AD40-5F80-49B3-FD1AB1B053F6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D25B625E-91DA-4DD8-1CC8-F76554992700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C35E4EB2-1467-D75D-23CF-14257A8A789C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AFCCC6B1-185B-484A-9396-19266970BA06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36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763B157-7A36-4098-A262-65E5E04B8D99}"/>
              </a:ext>
            </a:extLst>
          </p:cNvPr>
          <p:cNvSpPr txBox="1"/>
          <p:nvPr/>
        </p:nvSpPr>
        <p:spPr>
          <a:xfrm>
            <a:off x="1422400" y="5134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Objetivos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D189D6-CA58-4403-82D4-B3511569B346}"/>
              </a:ext>
            </a:extLst>
          </p:cNvPr>
          <p:cNvSpPr/>
          <p:nvPr/>
        </p:nvSpPr>
        <p:spPr>
          <a:xfrm>
            <a:off x="1447800" y="1072200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68E87EC-8E44-4E72-88AF-EFE6E0A5BE8A}"/>
              </a:ext>
            </a:extLst>
          </p:cNvPr>
          <p:cNvSpPr/>
          <p:nvPr/>
        </p:nvSpPr>
        <p:spPr>
          <a:xfrm>
            <a:off x="1444926" y="1450529"/>
            <a:ext cx="7289800" cy="711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955BC2F-23BA-4946-88A8-CADC532A78C0}"/>
              </a:ext>
            </a:extLst>
          </p:cNvPr>
          <p:cNvSpPr txBox="1"/>
          <p:nvPr/>
        </p:nvSpPr>
        <p:spPr>
          <a:xfrm>
            <a:off x="1444928" y="153554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050" b="1" dirty="0">
                <a:solidFill>
                  <a:srgbClr val="1B5FA8"/>
                </a:solidFill>
                <a:latin typeface="Montserrat"/>
              </a:rPr>
              <a:t>OBJETIVO PRINCIPAL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5C5F0C-AFB8-42AF-A2EB-5E1BB2A0BC0D}"/>
              </a:ext>
            </a:extLst>
          </p:cNvPr>
          <p:cNvSpPr txBox="1"/>
          <p:nvPr/>
        </p:nvSpPr>
        <p:spPr>
          <a:xfrm>
            <a:off x="1444926" y="1707258"/>
            <a:ext cx="4196209" cy="4770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Desarrollar un </a:t>
            </a:r>
            <a:r>
              <a:rPr lang="es-ES" sz="1250" dirty="0" err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geoportal</a:t>
            </a:r>
            <a:r>
              <a:rPr lang="es-ES" sz="1250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 web interactivo para el análisis de recurrencia sísmica con gestión de la incertidumbre espacial.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4C2FF48-7051-42A6-9C25-AD065CC857D8}"/>
              </a:ext>
            </a:extLst>
          </p:cNvPr>
          <p:cNvSpPr/>
          <p:nvPr/>
        </p:nvSpPr>
        <p:spPr>
          <a:xfrm>
            <a:off x="1444926" y="2288729"/>
            <a:ext cx="33557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4445C74-595A-4214-8CBC-42AC11F9D123}"/>
              </a:ext>
            </a:extLst>
          </p:cNvPr>
          <p:cNvSpPr/>
          <p:nvPr/>
        </p:nvSpPr>
        <p:spPr>
          <a:xfrm>
            <a:off x="1597326" y="2415729"/>
            <a:ext cx="508000" cy="5080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D39CAE-9CED-4C21-8531-3D0C426189FE}"/>
              </a:ext>
            </a:extLst>
          </p:cNvPr>
          <p:cNvSpPr txBox="1"/>
          <p:nvPr/>
        </p:nvSpPr>
        <p:spPr>
          <a:xfrm>
            <a:off x="2257726" y="2423508"/>
            <a:ext cx="2819400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Integrar y gestionar la información sísmica y geoespacial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6856B30-83BE-4890-A165-FA57777BFE68}"/>
              </a:ext>
            </a:extLst>
          </p:cNvPr>
          <p:cNvSpPr/>
          <p:nvPr/>
        </p:nvSpPr>
        <p:spPr>
          <a:xfrm>
            <a:off x="4924726" y="2288729"/>
            <a:ext cx="3810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2FA40F9-D25B-4101-9A48-4DD1C257D903}"/>
              </a:ext>
            </a:extLst>
          </p:cNvPr>
          <p:cNvSpPr/>
          <p:nvPr/>
        </p:nvSpPr>
        <p:spPr>
          <a:xfrm>
            <a:off x="5077126" y="2415729"/>
            <a:ext cx="508000" cy="5080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E54A604-9BEF-4CCE-B57E-EC69BC70420D}"/>
              </a:ext>
            </a:extLst>
          </p:cNvPr>
          <p:cNvSpPr txBox="1"/>
          <p:nvPr/>
        </p:nvSpPr>
        <p:spPr>
          <a:xfrm>
            <a:off x="5737526" y="2423508"/>
            <a:ext cx="2819400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Visualización del catálogo sísmico y las zonas </a:t>
            </a:r>
            <a:r>
              <a:rPr lang="es-ES" sz="1300" b="1" dirty="0" err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sismogenéticas</a:t>
            </a:r>
            <a:endParaRPr lang="es-ES" sz="1300" b="1" dirty="0">
              <a:solidFill>
                <a:srgbClr val="0C23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4012A09-CE10-4D89-AA15-9A4E4CE3723E}"/>
              </a:ext>
            </a:extLst>
          </p:cNvPr>
          <p:cNvSpPr/>
          <p:nvPr/>
        </p:nvSpPr>
        <p:spPr>
          <a:xfrm>
            <a:off x="1444926" y="3126929"/>
            <a:ext cx="33557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79D35DF-EBA5-4535-976F-33AB765F3C9B}"/>
              </a:ext>
            </a:extLst>
          </p:cNvPr>
          <p:cNvSpPr/>
          <p:nvPr/>
        </p:nvSpPr>
        <p:spPr>
          <a:xfrm>
            <a:off x="1597326" y="3253929"/>
            <a:ext cx="508000" cy="5080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A59760-D4E2-47F7-A651-8D44156AEAF7}"/>
              </a:ext>
            </a:extLst>
          </p:cNvPr>
          <p:cNvSpPr txBox="1"/>
          <p:nvPr/>
        </p:nvSpPr>
        <p:spPr>
          <a:xfrm>
            <a:off x="2257726" y="3261708"/>
            <a:ext cx="2819400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Implementar el cálculo de modelos</a:t>
            </a:r>
          </a:p>
          <a:p>
            <a:pPr algn="l"/>
            <a:r>
              <a:rPr lang="es-ES" sz="130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de recurrencia sísmica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A16467B-C786-441B-9532-5345CD06C801}"/>
              </a:ext>
            </a:extLst>
          </p:cNvPr>
          <p:cNvSpPr/>
          <p:nvPr/>
        </p:nvSpPr>
        <p:spPr>
          <a:xfrm>
            <a:off x="4924726" y="3126929"/>
            <a:ext cx="3810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52517EF-B651-440D-8918-81ECA4E5AEF1}"/>
              </a:ext>
            </a:extLst>
          </p:cNvPr>
          <p:cNvSpPr/>
          <p:nvPr/>
        </p:nvSpPr>
        <p:spPr>
          <a:xfrm>
            <a:off x="5077126" y="3253929"/>
            <a:ext cx="508000" cy="5080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A83386D-055B-4FB9-B25A-0B89172C3695}"/>
              </a:ext>
            </a:extLst>
          </p:cNvPr>
          <p:cNvSpPr txBox="1"/>
          <p:nvPr/>
        </p:nvSpPr>
        <p:spPr>
          <a:xfrm>
            <a:off x="5737526" y="3161681"/>
            <a:ext cx="2819400" cy="69249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Permitir la modificación interactiva de la asignación de eventos a zonas </a:t>
            </a:r>
            <a:r>
              <a:rPr lang="es-ES" sz="1300" b="1" dirty="0" err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sismogenéticas</a:t>
            </a:r>
            <a:endParaRPr lang="es-ES" sz="1300" b="1" dirty="0">
              <a:solidFill>
                <a:srgbClr val="0C234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6" name="Graphic 46" descr="Uploa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1626" y="2530029"/>
            <a:ext cx="279400" cy="279400"/>
          </a:xfrm>
          <a:prstGeom prst="rect">
            <a:avLst/>
          </a:prstGeom>
        </p:spPr>
      </p:pic>
      <p:pic>
        <p:nvPicPr>
          <p:cNvPr id="47" name="Graphic 47" descr="Ma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26" y="2530029"/>
            <a:ext cx="279400" cy="279400"/>
          </a:xfrm>
          <a:prstGeom prst="rect">
            <a:avLst/>
          </a:prstGeom>
        </p:spPr>
      </p:pic>
      <p:pic>
        <p:nvPicPr>
          <p:cNvPr id="48" name="Graphic 48" descr="Scatterplo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1626" y="3368229"/>
            <a:ext cx="279400" cy="279400"/>
          </a:xfrm>
          <a:prstGeom prst="rect">
            <a:avLst/>
          </a:prstGeom>
        </p:spPr>
      </p:pic>
      <p:pic>
        <p:nvPicPr>
          <p:cNvPr id="49" name="Graphic 49" descr="Curs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26" y="3368229"/>
            <a:ext cx="279400" cy="279400"/>
          </a:xfrm>
          <a:prstGeom prst="rect">
            <a:avLst/>
          </a:prstGeom>
        </p:spPr>
      </p:pic>
      <p:pic>
        <p:nvPicPr>
          <p:cNvPr id="51" name="Graphic 51" descr="Downloa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1426" y="3975100"/>
            <a:ext cx="279400" cy="279400"/>
          </a:xfrm>
          <a:prstGeom prst="rect">
            <a:avLst/>
          </a:prstGeom>
        </p:spPr>
      </p:pic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AD4C1DA1-5BB5-F308-9AF0-5BDF4A5C9B82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CF3C6BAF-AEAD-EDDD-AFB9-BCFB5B4066F0}"/>
              </a:ext>
            </a:extLst>
          </p:cNvPr>
          <p:cNvSpPr/>
          <p:nvPr/>
        </p:nvSpPr>
        <p:spPr>
          <a:xfrm>
            <a:off x="-293268" y="229934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CD8AD25F-F46F-866B-67E6-5576FED81E9E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B6C0B356-37F9-8D86-0734-66E7BEBACAE7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85C45ED7-16D3-B4EC-3062-80197F2445AE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0EF64DEB-51FA-D360-9216-59CE545312B5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ABE23A7B-2B1C-3257-912C-84610A0232F4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AB532AF3-83F4-2579-86DD-23E40A9AB415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6A8B20BF-BC87-4B9E-2B51-953F1E290B92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B454EF5-F950-7BE9-93B2-AE5007042FA5}"/>
              </a:ext>
            </a:extLst>
          </p:cNvPr>
          <p:cNvSpPr txBox="1"/>
          <p:nvPr/>
        </p:nvSpPr>
        <p:spPr>
          <a:xfrm>
            <a:off x="2358" y="2324743"/>
            <a:ext cx="82426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Objetivos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4E3BBF37-7858-BAC3-7C07-5166F3FC28FB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B279E208-94B9-CDF3-EF3E-FF745ECD121F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B8E3F497-B29C-4213-841F-9E36A9E3AB99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616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FFA9D5-9DA6-751A-6C9A-6929DDF60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0"/>
            <a:ext cx="7715250" cy="5143500"/>
          </a:xfrm>
          <a:prstGeom prst="rect">
            <a:avLst/>
          </a:prstGeom>
        </p:spPr>
      </p:pic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5B7B81D9-C98D-8E5E-933D-E8947FF40C66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31F758B-EC25-40DA-1431-DE99FCB1E0BA}"/>
              </a:ext>
            </a:extLst>
          </p:cNvPr>
          <p:cNvSpPr/>
          <p:nvPr/>
        </p:nvSpPr>
        <p:spPr>
          <a:xfrm>
            <a:off x="-293268" y="260380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EF0E4540-C0ED-590B-B23E-038CF747663F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1E6CA96-8EC0-0673-D6D8-A654739B7789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E1E211AF-7355-23E2-F8E7-2D932BB2ED93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E34DBBC-EA7C-166E-BFFB-9B54C692E69B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16CC7A18-62EB-F09B-5447-FC20EC563C8C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DF5F75B-27FD-937F-2B24-3B8F46534E13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4C143F8-3D26-329C-07F9-899AB9E6BFB9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0E999F7-39FD-CDF3-4304-769EBA484DCE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A0AB043E-5647-7111-2AB2-C9CBDCC2578F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Fundamentos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BBB9F3F3-E7CA-7018-68DB-8A4290A71205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8E3A1A63-AE93-4974-96F4-EA4C8B7CDD7D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442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7444C75-B4B0-5704-2C7D-45F7E639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0"/>
            <a:ext cx="7753350" cy="51435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0740AF7-03FE-A23D-D26B-0D7B786F6D43}"/>
              </a:ext>
            </a:extLst>
          </p:cNvPr>
          <p:cNvSpPr/>
          <p:nvPr/>
        </p:nvSpPr>
        <p:spPr>
          <a:xfrm>
            <a:off x="7020778" y="2182852"/>
            <a:ext cx="1143918" cy="901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AFC6662-5AFE-6B26-6A22-C9F38A8D6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624" y="1371269"/>
            <a:ext cx="4736804" cy="2287905"/>
          </a:xfrm>
          <a:prstGeom prst="rect">
            <a:avLst/>
          </a:prstGeom>
        </p:spPr>
      </p:pic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A8234E1B-D298-EE18-C281-2E80E9B9EC63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BB96BF75-8BBD-1273-7EE6-C4321D55619F}"/>
              </a:ext>
            </a:extLst>
          </p:cNvPr>
          <p:cNvSpPr/>
          <p:nvPr/>
        </p:nvSpPr>
        <p:spPr>
          <a:xfrm>
            <a:off x="-293268" y="260380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347F0B4-3803-C55A-72F4-8C6F98E9A503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B7BB210-17FE-B301-031E-39D322E12932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9EB4579F-2893-6956-1AE6-693032DD0E47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4D65A99-54B5-1DD8-22E0-2487F0D980F8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69BDF86-C50E-E00A-53DF-37D95994D0D8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453C126-01D3-5D5B-8F04-F232EA797B52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38AC5B9-F078-93E7-545B-1187CC694B69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7288BC0F-E845-6546-BA3B-2B43FC27FD0F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F56F98A3-A903-8F29-6B1F-F66F94C3B0AD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Fundamentos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06C9CAF-6D00-80DE-C47E-D4893D4D7D0C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8B6887BF-76A6-43DB-AA08-56D1B739BCC1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5425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93CD6F84-BCE1-B10F-E5CF-4F1274D9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0"/>
            <a:ext cx="7715250" cy="5143500"/>
          </a:xfrm>
          <a:prstGeom prst="rect">
            <a:avLst/>
          </a:prstGeom>
        </p:spPr>
      </p:pic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AD010BF1-9203-8A3E-9677-6050304EBAEE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380058E7-3D97-DBC2-CFA3-7A9D5BD1CF29}"/>
              </a:ext>
            </a:extLst>
          </p:cNvPr>
          <p:cNvSpPr/>
          <p:nvPr/>
        </p:nvSpPr>
        <p:spPr>
          <a:xfrm>
            <a:off x="-293268" y="260380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AC479A7-317D-9EB8-16E5-AAFD80971ADC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D78A3BE-A1D1-5CE4-10C6-0E674DA738CD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F774BED4-F503-F0B7-53E6-EB3F9444E244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8ED64A86-E4A0-77D7-53EE-638E8341284E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3037037-46B0-6302-FD5F-58F4DD395ED0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AA52B690-8085-F69D-A353-E2427CFC2261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D134C1FA-111F-690B-1C89-AD9662225D3E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B20A1E2-6223-D9AB-6157-BAFF483C344E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FDE96D6-1376-EB5D-6F13-28A930A23663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Fundamentos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8CDB4410-2329-60D2-8D1A-38BE211CDE88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3FDE6F84-6223-4C1C-9043-0E3C8C8505F0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7840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97F862-F0E7-4A84-AA27-91FB0CD5CA71}"/>
              </a:ext>
            </a:extLst>
          </p:cNvPr>
          <p:cNvSpPr txBox="1"/>
          <p:nvPr/>
        </p:nvSpPr>
        <p:spPr>
          <a:xfrm>
            <a:off x="1422400" y="701964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Incertidumbre en la localización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E1CC25-82ED-4DEA-A181-ED3AA5410FDF}"/>
              </a:ext>
            </a:extLst>
          </p:cNvPr>
          <p:cNvSpPr/>
          <p:nvPr/>
        </p:nvSpPr>
        <p:spPr>
          <a:xfrm>
            <a:off x="1447800" y="1260764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F2169C-01EF-4BC9-B189-75FDF0B4DE5D}"/>
              </a:ext>
            </a:extLst>
          </p:cNvPr>
          <p:cNvSpPr/>
          <p:nvPr/>
        </p:nvSpPr>
        <p:spPr>
          <a:xfrm>
            <a:off x="1422400" y="1739900"/>
            <a:ext cx="50800" cy="609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E6AF95-D5DD-4459-B70E-B03335A76DDF}"/>
              </a:ext>
            </a:extLst>
          </p:cNvPr>
          <p:cNvSpPr txBox="1"/>
          <p:nvPr/>
        </p:nvSpPr>
        <p:spPr>
          <a:xfrm>
            <a:off x="1600200" y="1701800"/>
            <a:ext cx="3530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>
                <a:solidFill>
                  <a:srgbClr val="0C2340"/>
                </a:solidFill>
                <a:latin typeface="Montserrat"/>
              </a:rPr>
              <a:t>Error epicentral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F1A117-8A6D-4736-AE94-1E82D83B3079}"/>
              </a:ext>
            </a:extLst>
          </p:cNvPr>
          <p:cNvSpPr txBox="1"/>
          <p:nvPr/>
        </p:nvSpPr>
        <p:spPr>
          <a:xfrm>
            <a:off x="1600200" y="1981200"/>
            <a:ext cx="35306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La localización de un sismo no es exacta: lleva asociada una región de confianza.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A86375-B4F4-44FC-88A6-112E8FA86A0A}"/>
              </a:ext>
            </a:extLst>
          </p:cNvPr>
          <p:cNvSpPr/>
          <p:nvPr/>
        </p:nvSpPr>
        <p:spPr>
          <a:xfrm>
            <a:off x="1422400" y="2705100"/>
            <a:ext cx="50800" cy="609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96EF783-F828-4280-BA77-FACF2A86F12D}"/>
              </a:ext>
            </a:extLst>
          </p:cNvPr>
          <p:cNvSpPr txBox="1"/>
          <p:nvPr/>
        </p:nvSpPr>
        <p:spPr>
          <a:xfrm>
            <a:off x="1600200" y="2667000"/>
            <a:ext cx="3530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>
                <a:solidFill>
                  <a:srgbClr val="0C2340"/>
                </a:solidFill>
                <a:latin typeface="Montserrat"/>
              </a:rPr>
              <a:t>Elipses de error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1F6B5C-08BA-46F6-A0DC-5BED13B23795}"/>
              </a:ext>
            </a:extLst>
          </p:cNvPr>
          <p:cNvSpPr txBox="1"/>
          <p:nvPr/>
        </p:nvSpPr>
        <p:spPr>
          <a:xfrm>
            <a:off x="1600200" y="2946400"/>
            <a:ext cx="35306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Definidas por semieje mayor (smajax), menor (sminax) y azimut; modelan la incertidumbre 2D.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1210995-0863-47BC-82EF-63E096BFA441}"/>
              </a:ext>
            </a:extLst>
          </p:cNvPr>
          <p:cNvSpPr/>
          <p:nvPr/>
        </p:nvSpPr>
        <p:spPr>
          <a:xfrm>
            <a:off x="1422400" y="3670300"/>
            <a:ext cx="50800" cy="609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884708-3F1E-4270-BF44-CBB47B078223}"/>
              </a:ext>
            </a:extLst>
          </p:cNvPr>
          <p:cNvSpPr txBox="1"/>
          <p:nvPr/>
        </p:nvSpPr>
        <p:spPr>
          <a:xfrm>
            <a:off x="1600200" y="3632200"/>
            <a:ext cx="3530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>
                <a:solidFill>
                  <a:srgbClr val="0C2340"/>
                </a:solidFill>
                <a:latin typeface="Montserrat"/>
              </a:rPr>
              <a:t>Impacto en la asignación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5EE9002-0A98-4BEB-A831-E6079D21ACC1}"/>
              </a:ext>
            </a:extLst>
          </p:cNvPr>
          <p:cNvSpPr txBox="1"/>
          <p:nvPr/>
        </p:nvSpPr>
        <p:spPr>
          <a:xfrm>
            <a:off x="1600200" y="3911600"/>
            <a:ext cx="3530600" cy="49244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Cerca de un límite, el evento puede caer en una zona u otra → cambian b, R y λ de ambas.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C2E2E668-76B3-FCA4-0623-82F62828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1409700"/>
            <a:ext cx="3683000" cy="3073400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A7FCA444-E845-2F39-6FDB-1DEB144403A8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38231AD-BDDA-21AF-81E3-24DE2C6F2B70}"/>
              </a:ext>
            </a:extLst>
          </p:cNvPr>
          <p:cNvSpPr/>
          <p:nvPr/>
        </p:nvSpPr>
        <p:spPr>
          <a:xfrm>
            <a:off x="-293268" y="260380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CA6E6E42-1AD2-CDDC-BB1F-3A42803CD0DC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80646472-2DA6-1356-3E1B-D3534265A373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CC904327-F90F-7010-6328-3AD4A97E4646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B823AD9-6961-B089-577D-3A3E78C51D3B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8E93F09-FEA8-0D31-9DD6-FDB465299826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28461BA-50B0-12CF-D53A-5CEFB7B9E1EA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B766F2A-E96C-3C4F-D47C-BB52528EA06D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D9D044A-BCB0-EBE2-7FF5-A2B50371268C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C6A31AC6-174E-7436-038A-A3AA737BEF07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Fundamentos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8B38C46-9964-839F-5EC8-4E25D9CCF3AA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AD076219-095F-4D2C-BC12-7B23745A2F20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392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AB9A72-089F-40C7-B774-96931008E856}"/>
              </a:ext>
            </a:extLst>
          </p:cNvPr>
          <p:cNvSpPr txBox="1"/>
          <p:nvPr/>
        </p:nvSpPr>
        <p:spPr>
          <a:xfrm>
            <a:off x="1422400" y="776432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 dirty="0">
                <a:solidFill>
                  <a:srgbClr val="0C2340"/>
                </a:solidFill>
                <a:latin typeface="Montserrat"/>
              </a:rPr>
              <a:t>Stack tecnológico y librerías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E3AEAA-FF68-4438-A7AC-8C7128055012}"/>
              </a:ext>
            </a:extLst>
          </p:cNvPr>
          <p:cNvSpPr/>
          <p:nvPr/>
        </p:nvSpPr>
        <p:spPr>
          <a:xfrm>
            <a:off x="1447800" y="1335232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B8477A-B503-4D37-BF17-46F5AAC19A50}"/>
              </a:ext>
            </a:extLst>
          </p:cNvPr>
          <p:cNvSpPr/>
          <p:nvPr/>
        </p:nvSpPr>
        <p:spPr>
          <a:xfrm>
            <a:off x="1422400" y="1651000"/>
            <a:ext cx="3606800" cy="307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3E9237-1C78-4627-ABE6-12B1740A68BB}"/>
              </a:ext>
            </a:extLst>
          </p:cNvPr>
          <p:cNvSpPr txBox="1"/>
          <p:nvPr/>
        </p:nvSpPr>
        <p:spPr>
          <a:xfrm>
            <a:off x="1701800" y="18288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 dirty="0" err="1">
                <a:solidFill>
                  <a:srgbClr val="1B5FA8"/>
                </a:solidFill>
                <a:latin typeface="Montserrat"/>
              </a:rPr>
              <a:t>Backend</a:t>
            </a:r>
            <a:r>
              <a:rPr lang="es-ES" sz="1600" b="1" dirty="0">
                <a:solidFill>
                  <a:srgbClr val="1B5FA8"/>
                </a:solidFill>
                <a:latin typeface="Montserrat"/>
              </a:rPr>
              <a:t> y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FEC918-E00B-4E8E-83CE-F8A2DF4B4EF6}"/>
              </a:ext>
            </a:extLst>
          </p:cNvPr>
          <p:cNvSpPr/>
          <p:nvPr/>
        </p:nvSpPr>
        <p:spPr>
          <a:xfrm>
            <a:off x="1701800" y="2159000"/>
            <a:ext cx="482600" cy="381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050890A-8427-473D-9BF4-48DDE6478EEC}"/>
              </a:ext>
            </a:extLst>
          </p:cNvPr>
          <p:cNvSpPr/>
          <p:nvPr/>
        </p:nvSpPr>
        <p:spPr>
          <a:xfrm>
            <a:off x="5181600" y="1651000"/>
            <a:ext cx="3606800" cy="307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E293EC-40C7-4E7F-B742-F6143D1D44B8}"/>
              </a:ext>
            </a:extLst>
          </p:cNvPr>
          <p:cNvSpPr txBox="1"/>
          <p:nvPr/>
        </p:nvSpPr>
        <p:spPr>
          <a:xfrm>
            <a:off x="5384800" y="18288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>
                <a:solidFill>
                  <a:srgbClr val="3B82F6"/>
                </a:solidFill>
                <a:latin typeface="Montserrat"/>
              </a:rPr>
              <a:t>Frontend y geoespacial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27B19AF-11E7-4371-8057-B12F6402B651}"/>
              </a:ext>
            </a:extLst>
          </p:cNvPr>
          <p:cNvSpPr/>
          <p:nvPr/>
        </p:nvSpPr>
        <p:spPr>
          <a:xfrm>
            <a:off x="5384800" y="2159000"/>
            <a:ext cx="482600" cy="381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257CE9C-E38C-4BC5-B7E8-117CE70BF758}"/>
              </a:ext>
            </a:extLst>
          </p:cNvPr>
          <p:cNvSpPr txBox="1"/>
          <p:nvPr/>
        </p:nvSpPr>
        <p:spPr>
          <a:xfrm>
            <a:off x="1422400" y="23114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Python, Django 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22AC316-D1E8-4AB4-B1A4-7AB2B940D23E}"/>
              </a:ext>
            </a:extLst>
          </p:cNvPr>
          <p:cNvSpPr txBox="1"/>
          <p:nvPr/>
        </p:nvSpPr>
        <p:spPr>
          <a:xfrm>
            <a:off x="1422400" y="25400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Lógica de servidor, enrutado y vistas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879228-CC2F-4380-A02C-CB283437228B}"/>
              </a:ext>
            </a:extLst>
          </p:cNvPr>
          <p:cNvSpPr txBox="1"/>
          <p:nvPr/>
        </p:nvSpPr>
        <p:spPr>
          <a:xfrm>
            <a:off x="1422400" y="27940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SQLite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CE4FCC-D5C8-41F1-B72A-32C1CCAF3E96}"/>
              </a:ext>
            </a:extLst>
          </p:cNvPr>
          <p:cNvSpPr txBox="1"/>
          <p:nvPr/>
        </p:nvSpPr>
        <p:spPr>
          <a:xfrm>
            <a:off x="1422400" y="30226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Base de datos ligera de catálogos y zonas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A88B3C-E281-4EA3-8476-3C1BF5187839}"/>
              </a:ext>
            </a:extLst>
          </p:cNvPr>
          <p:cNvSpPr txBox="1"/>
          <p:nvPr/>
        </p:nvSpPr>
        <p:spPr>
          <a:xfrm>
            <a:off x="1422400" y="32766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pandas, NumPy, SciPy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076318-966D-464D-A21D-605DCCEB9886}"/>
              </a:ext>
            </a:extLst>
          </p:cNvPr>
          <p:cNvSpPr txBox="1"/>
          <p:nvPr/>
        </p:nvSpPr>
        <p:spPr>
          <a:xfrm>
            <a:off x="1422400" y="35052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Cálculo numérico y ajuste de la recurrencia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20C7E90-321F-4ACE-BC09-5F1EAD45793A}"/>
              </a:ext>
            </a:extLst>
          </p:cNvPr>
          <p:cNvSpPr txBox="1"/>
          <p:nvPr/>
        </p:nvSpPr>
        <p:spPr>
          <a:xfrm>
            <a:off x="1422400" y="37592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matplotlib, geopy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CCC11B7-2723-4B65-B468-B4FBBDAED099}"/>
              </a:ext>
            </a:extLst>
          </p:cNvPr>
          <p:cNvSpPr txBox="1"/>
          <p:nvPr/>
        </p:nvSpPr>
        <p:spPr>
          <a:xfrm>
            <a:off x="1422400" y="39878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Gráficas server-side y cálculos geodésicos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CB9DB7-82E6-4E10-8102-D1DF51E0D861}"/>
              </a:ext>
            </a:extLst>
          </p:cNvPr>
          <p:cNvSpPr txBox="1"/>
          <p:nvPr/>
        </p:nvSpPr>
        <p:spPr>
          <a:xfrm>
            <a:off x="5384800" y="23114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Leaflet.js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7A7D0F2-B202-4816-9483-4BDF5C4BDEDF}"/>
              </a:ext>
            </a:extLst>
          </p:cNvPr>
          <p:cNvSpPr txBox="1"/>
          <p:nvPr/>
        </p:nvSpPr>
        <p:spPr>
          <a:xfrm>
            <a:off x="5384800" y="25400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Visor cartográfico interactivo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74FA62-3C7E-4559-B343-F9F341DC98A6}"/>
              </a:ext>
            </a:extLst>
          </p:cNvPr>
          <p:cNvSpPr txBox="1"/>
          <p:nvPr/>
        </p:nvSpPr>
        <p:spPr>
          <a:xfrm>
            <a:off x="5384800" y="27940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Chart.js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680B054-D59C-470E-A1E2-FAC52FCA6E88}"/>
              </a:ext>
            </a:extLst>
          </p:cNvPr>
          <p:cNvSpPr txBox="1"/>
          <p:nvPr/>
        </p:nvSpPr>
        <p:spPr>
          <a:xfrm>
            <a:off x="5384800" y="30226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Gráficas Gutenberg-Richter en el navegador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B468ADA-08C8-4DCE-9CC9-556DADEEBA0E}"/>
              </a:ext>
            </a:extLst>
          </p:cNvPr>
          <p:cNvSpPr txBox="1"/>
          <p:nvPr/>
        </p:nvSpPr>
        <p:spPr>
          <a:xfrm>
            <a:off x="5384800" y="32766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PapaParse, shpjs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D29D536-B65D-4A24-A16F-A8B32CF753E2}"/>
              </a:ext>
            </a:extLst>
          </p:cNvPr>
          <p:cNvSpPr txBox="1"/>
          <p:nvPr/>
        </p:nvSpPr>
        <p:spPr>
          <a:xfrm>
            <a:off x="5384800" y="35052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Lectura de catálogos CSV y Shapefiles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BEBF01F-0C71-4939-B043-3D025E8EACD0}"/>
              </a:ext>
            </a:extLst>
          </p:cNvPr>
          <p:cNvSpPr txBox="1"/>
          <p:nvPr/>
        </p:nvSpPr>
        <p:spPr>
          <a:xfrm>
            <a:off x="5384800" y="37592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jsPDF, Font Awesome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0D47179-161E-4CDA-B151-D0D7B7F6F2C2}"/>
              </a:ext>
            </a:extLst>
          </p:cNvPr>
          <p:cNvSpPr txBox="1"/>
          <p:nvPr/>
        </p:nvSpPr>
        <p:spPr>
          <a:xfrm>
            <a:off x="5384800" y="3987800"/>
            <a:ext cx="3403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Informes PDF, iconografía y banderas (i18n)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56861DA-C565-4374-8CD8-6C0CB490A0C9}"/>
              </a:ext>
            </a:extLst>
          </p:cNvPr>
          <p:cNvSpPr/>
          <p:nvPr/>
        </p:nvSpPr>
        <p:spPr>
          <a:xfrm>
            <a:off x="1930400" y="1625600"/>
            <a:ext cx="2524966" cy="889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2BEDFFC-71DC-4F7F-AE63-81F1731192F6}"/>
              </a:ext>
            </a:extLst>
          </p:cNvPr>
          <p:cNvSpPr/>
          <p:nvPr/>
        </p:nvSpPr>
        <p:spPr>
          <a:xfrm>
            <a:off x="5665380" y="1625600"/>
            <a:ext cx="2586131" cy="889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02071146-B6F0-1DCD-BEDF-7BDFF09B8B03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F8ADA7CA-D16F-1584-4BD8-EEE5015C19E0}"/>
              </a:ext>
            </a:extLst>
          </p:cNvPr>
          <p:cNvSpPr/>
          <p:nvPr/>
        </p:nvSpPr>
        <p:spPr>
          <a:xfrm>
            <a:off x="-293268" y="2925126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A7B59CAC-7752-C7EE-A886-A8C6502F9001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F65EFFD8-C053-B568-FFEF-42768AAD857A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ADDF0C2A-5F7D-F4B4-76C8-56D51B588AB4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EB14BFBF-842C-528B-CD3D-8E3832824DDA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0C388DE-F73B-AFE9-B459-25DB85FF56D4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5A5800BC-B6E3-4843-B6D9-FC1CF082C147}"/>
              </a:ext>
            </a:extLst>
          </p:cNvPr>
          <p:cNvSpPr txBox="1"/>
          <p:nvPr/>
        </p:nvSpPr>
        <p:spPr>
          <a:xfrm>
            <a:off x="2359" y="2950527"/>
            <a:ext cx="1040670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Arquitectura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C64554CF-4A8B-520B-FE8B-321FCD87D407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2AC222C3-229A-4B22-B22E-42B9D87B7D22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BA2F9A3-849B-9A69-91C9-A2D4D678EB3C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9EC8E0D0-9ADD-06C3-C246-2693D339593A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CC7A6D63-0358-49DF-B253-023665C2A587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786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9576F74-D824-4E90-ABB1-440B797705D7}"/>
              </a:ext>
            </a:extLst>
          </p:cNvPr>
          <p:cNvSpPr txBox="1"/>
          <p:nvPr/>
        </p:nvSpPr>
        <p:spPr>
          <a:xfrm>
            <a:off x="1422400" y="770354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Experiencia de usuario e interfaz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CD04B5-065A-44DA-AFA3-482D857ABCC6}"/>
              </a:ext>
            </a:extLst>
          </p:cNvPr>
          <p:cNvSpPr/>
          <p:nvPr/>
        </p:nvSpPr>
        <p:spPr>
          <a:xfrm>
            <a:off x="1447800" y="1329154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4DE9EFF-7558-43F1-AE91-9C9FE2A33AE8}"/>
              </a:ext>
            </a:extLst>
          </p:cNvPr>
          <p:cNvSpPr/>
          <p:nvPr/>
        </p:nvSpPr>
        <p:spPr>
          <a:xfrm>
            <a:off x="1422400" y="1676400"/>
            <a:ext cx="3810000" cy="1371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76A9CC-E14A-4D1D-AB50-52C510AB542B}"/>
              </a:ext>
            </a:extLst>
          </p:cNvPr>
          <p:cNvSpPr txBox="1"/>
          <p:nvPr/>
        </p:nvSpPr>
        <p:spPr>
          <a:xfrm>
            <a:off x="2514600" y="1905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 dirty="0">
                <a:solidFill>
                  <a:srgbClr val="0C2340"/>
                </a:solidFill>
                <a:latin typeface="Montserrat"/>
              </a:rPr>
              <a:t>Temas visuales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84258A-2346-4E6F-AA93-53095E08B88C}"/>
              </a:ext>
            </a:extLst>
          </p:cNvPr>
          <p:cNvSpPr txBox="1"/>
          <p:nvPr/>
        </p:nvSpPr>
        <p:spPr>
          <a:xfrm>
            <a:off x="2514600" y="2235200"/>
            <a:ext cx="2540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Claro, oscuro y daltónico (paleta Okabe-</a:t>
            </a:r>
            <a:r>
              <a:rPr lang="es-ES" sz="12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Ito</a:t>
            </a:r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, sin rojo/verde).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171D596-7F85-4DB7-8755-90C1084EFD23}"/>
              </a:ext>
            </a:extLst>
          </p:cNvPr>
          <p:cNvSpPr/>
          <p:nvPr/>
        </p:nvSpPr>
        <p:spPr>
          <a:xfrm>
            <a:off x="5303116" y="1676400"/>
            <a:ext cx="3810000" cy="1371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80827B-4C15-427F-A08B-B8B492AA06C9}"/>
              </a:ext>
            </a:extLst>
          </p:cNvPr>
          <p:cNvSpPr txBox="1"/>
          <p:nvPr/>
        </p:nvSpPr>
        <p:spPr>
          <a:xfrm>
            <a:off x="6395316" y="1905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>
                <a:solidFill>
                  <a:srgbClr val="0C2340"/>
                </a:solidFill>
                <a:latin typeface="Montserrat"/>
              </a:rPr>
              <a:t>Interfaz multiidioma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C6CBA8-92BB-4E6E-BC1F-C33551AD5959}"/>
              </a:ext>
            </a:extLst>
          </p:cNvPr>
          <p:cNvSpPr txBox="1"/>
          <p:nvPr/>
        </p:nvSpPr>
        <p:spPr>
          <a:xfrm>
            <a:off x="6395316" y="2235200"/>
            <a:ext cx="2540000" cy="4770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Cambio de </a:t>
            </a:r>
            <a:r>
              <a:rPr lang="es-ES" sz="12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idioma con </a:t>
            </a:r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selector de banderas.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3B40ECF-0A30-44A8-BA59-4E4FD16DFAE3}"/>
              </a:ext>
            </a:extLst>
          </p:cNvPr>
          <p:cNvSpPr/>
          <p:nvPr/>
        </p:nvSpPr>
        <p:spPr>
          <a:xfrm>
            <a:off x="1422400" y="3175000"/>
            <a:ext cx="3810000" cy="1371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26E807-C38D-4E58-A7E8-CE1E0401152B}"/>
              </a:ext>
            </a:extLst>
          </p:cNvPr>
          <p:cNvSpPr txBox="1"/>
          <p:nvPr/>
        </p:nvSpPr>
        <p:spPr>
          <a:xfrm>
            <a:off x="2514600" y="3403600"/>
            <a:ext cx="2946400" cy="3385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 dirty="0">
                <a:solidFill>
                  <a:srgbClr val="0C2340"/>
                </a:solidFill>
                <a:latin typeface="Montserrat"/>
              </a:rPr>
              <a:t>Panel lateral adaptable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8F1952F-E0BE-4E92-B284-4D1266203AAC}"/>
              </a:ext>
            </a:extLst>
          </p:cNvPr>
          <p:cNvSpPr txBox="1"/>
          <p:nvPr/>
        </p:nvSpPr>
        <p:spPr>
          <a:xfrm>
            <a:off x="2514600" y="3733800"/>
            <a:ext cx="2540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Colapsable y </a:t>
            </a:r>
            <a:r>
              <a:rPr lang="es-ES" sz="12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redimensionable</a:t>
            </a:r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; pestañas Datos y Análisis.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6F9BE8E-D5F1-4326-8358-A8F754D81488}"/>
              </a:ext>
            </a:extLst>
          </p:cNvPr>
          <p:cNvSpPr/>
          <p:nvPr/>
        </p:nvSpPr>
        <p:spPr>
          <a:xfrm>
            <a:off x="5303116" y="3175000"/>
            <a:ext cx="3810000" cy="1371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EAE21BE-3E8D-47A9-9216-3E128FA5EFE5}"/>
              </a:ext>
            </a:extLst>
          </p:cNvPr>
          <p:cNvSpPr txBox="1"/>
          <p:nvPr/>
        </p:nvSpPr>
        <p:spPr>
          <a:xfrm>
            <a:off x="5892042" y="3319100"/>
            <a:ext cx="3251200" cy="3385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 dirty="0">
                <a:solidFill>
                  <a:srgbClr val="0C2340"/>
                </a:solidFill>
                <a:latin typeface="Montserrat"/>
              </a:rPr>
              <a:t>Color de zonas y terremotos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ABCDB7-D249-462D-8A11-61601D9EFC14}"/>
              </a:ext>
            </a:extLst>
          </p:cNvPr>
          <p:cNvSpPr txBox="1"/>
          <p:nvPr/>
        </p:nvSpPr>
        <p:spPr>
          <a:xfrm>
            <a:off x="6395316" y="3733800"/>
            <a:ext cx="2540000" cy="4770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Color configurable por zona y terremotos</a:t>
            </a:r>
          </a:p>
        </p:txBody>
      </p:sp>
      <p:pic>
        <p:nvPicPr>
          <p:cNvPr id="17" name="Graphic 17" descr="Temas visua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2082800"/>
            <a:ext cx="558800" cy="558800"/>
          </a:xfrm>
          <a:prstGeom prst="rect">
            <a:avLst/>
          </a:prstGeom>
        </p:spPr>
      </p:pic>
      <p:pic>
        <p:nvPicPr>
          <p:cNvPr id="18" name="Graphic 18" descr="Multiidiom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116" y="2082800"/>
            <a:ext cx="558800" cy="558800"/>
          </a:xfrm>
          <a:prstGeom prst="rect">
            <a:avLst/>
          </a:prstGeom>
        </p:spPr>
      </p:pic>
      <p:pic>
        <p:nvPicPr>
          <p:cNvPr id="19" name="Graphic 19" descr="Panel later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6400" y="3581400"/>
            <a:ext cx="558800" cy="558800"/>
          </a:xfrm>
          <a:prstGeom prst="rect">
            <a:avLst/>
          </a:prstGeom>
        </p:spPr>
      </p:pic>
      <p:pic>
        <p:nvPicPr>
          <p:cNvPr id="20" name="Graphic 20" descr="Color de zo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7116" y="3581400"/>
            <a:ext cx="558800" cy="558800"/>
          </a:xfrm>
          <a:prstGeom prst="rect">
            <a:avLst/>
          </a:prstGeom>
        </p:spPr>
      </p:pic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27112076-8A99-AC1D-D99C-63E5C2DE22D6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000D5BC0-5576-6467-FE83-2DB2D2D6BDA1}"/>
              </a:ext>
            </a:extLst>
          </p:cNvPr>
          <p:cNvSpPr/>
          <p:nvPr/>
        </p:nvSpPr>
        <p:spPr>
          <a:xfrm>
            <a:off x="-290944" y="2925126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90220E1-E694-C68A-A68C-5E46CC0432F0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C7927EE-B338-7140-C870-CEF67F924B69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DF7618C-5A94-EE56-E259-C4DB9AE9C054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B38A90D-DA31-D60A-7094-F35D2C690C44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37F2B3C-371C-D476-6079-62112CB1AFA4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8AF243E-6625-C0FB-F256-11D5DC8FA637}"/>
              </a:ext>
            </a:extLst>
          </p:cNvPr>
          <p:cNvSpPr txBox="1"/>
          <p:nvPr/>
        </p:nvSpPr>
        <p:spPr>
          <a:xfrm>
            <a:off x="2359" y="2950527"/>
            <a:ext cx="1040670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Arquitectura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C52CB05-9950-2963-3C5B-0D355DD0A151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134BCB8-E7E2-1A22-5DDC-7750CBCF2B67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3C0A607-FD98-719E-2C13-64F01BB7197A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F059D27-C3EF-FE7C-09D1-E66166031F47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45084BF1-2287-4D17-887C-9217CDDEBBE1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9602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2ECB151-C5A9-4403-BF6B-8601D42E2DA6}"/>
              </a:ext>
            </a:extLst>
          </p:cNvPr>
          <p:cNvSpPr txBox="1"/>
          <p:nvPr/>
        </p:nvSpPr>
        <p:spPr>
          <a:xfrm>
            <a:off x="1422400" y="768419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El dashboard de inicio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3C5205-81C0-4B6C-A238-C11E617EA4EE}"/>
              </a:ext>
            </a:extLst>
          </p:cNvPr>
          <p:cNvSpPr/>
          <p:nvPr/>
        </p:nvSpPr>
        <p:spPr>
          <a:xfrm>
            <a:off x="1447800" y="1327219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A9C5AD-C25B-4294-8B62-B2DBF168B8A8}"/>
              </a:ext>
            </a:extLst>
          </p:cNvPr>
          <p:cNvSpPr txBox="1"/>
          <p:nvPr/>
        </p:nvSpPr>
        <p:spPr>
          <a:xfrm>
            <a:off x="1422400" y="1759019"/>
            <a:ext cx="36576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La página de inicio presenta el proyecto y da acceso al visor, organizando la información en secciones claras antes de entrar en la herramienta.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6C2A82-5913-4614-8C5C-9AEF270D4E5F}"/>
              </a:ext>
            </a:extLst>
          </p:cNvPr>
          <p:cNvSpPr/>
          <p:nvPr/>
        </p:nvSpPr>
        <p:spPr>
          <a:xfrm>
            <a:off x="1422400" y="2775019"/>
            <a:ext cx="50800" cy="203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D3CA32-3570-4243-B08D-22F96BFFCF28}"/>
              </a:ext>
            </a:extLst>
          </p:cNvPr>
          <p:cNvSpPr txBox="1"/>
          <p:nvPr/>
        </p:nvSpPr>
        <p:spPr>
          <a:xfrm>
            <a:off x="1600200" y="2724219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Barra institucional + selector de idioma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24B12D-1A85-4393-B242-929FA343113C}"/>
              </a:ext>
            </a:extLst>
          </p:cNvPr>
          <p:cNvSpPr/>
          <p:nvPr/>
        </p:nvSpPr>
        <p:spPr>
          <a:xfrm>
            <a:off x="1422400" y="3206819"/>
            <a:ext cx="50800" cy="203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EE174F-8F4E-4830-A51A-832416E6B3B2}"/>
              </a:ext>
            </a:extLst>
          </p:cNvPr>
          <p:cNvSpPr txBox="1"/>
          <p:nvPr/>
        </p:nvSpPr>
        <p:spPr>
          <a:xfrm>
            <a:off x="1600200" y="3156019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Navegación principal y sección hero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F8CDED-5845-4F99-B56D-CC44843252E4}"/>
              </a:ext>
            </a:extLst>
          </p:cNvPr>
          <p:cNvSpPr/>
          <p:nvPr/>
        </p:nvSpPr>
        <p:spPr>
          <a:xfrm>
            <a:off x="1422400" y="3638619"/>
            <a:ext cx="50800" cy="203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414B37-7601-4F93-9DBA-C65929049DDF}"/>
              </a:ext>
            </a:extLst>
          </p:cNvPr>
          <p:cNvSpPr txBox="1"/>
          <p:nvPr/>
        </p:nvSpPr>
        <p:spPr>
          <a:xfrm>
            <a:off x="1600200" y="3587819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Características del visor y metodología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99BB29-D6C1-4C75-A2D6-4936075436B1}"/>
              </a:ext>
            </a:extLst>
          </p:cNvPr>
          <p:cNvSpPr/>
          <p:nvPr/>
        </p:nvSpPr>
        <p:spPr>
          <a:xfrm>
            <a:off x="1422400" y="4070419"/>
            <a:ext cx="50800" cy="203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EA98A4-9B63-47D8-897F-2E0E54D17B1C}"/>
              </a:ext>
            </a:extLst>
          </p:cNvPr>
          <p:cNvSpPr txBox="1"/>
          <p:nvPr/>
        </p:nvSpPr>
        <p:spPr>
          <a:xfrm>
            <a:off x="1600200" y="4019619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Especificaciones del formato de entrada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E964A0A4-BA52-FE91-6804-930048B89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871" y="2079894"/>
            <a:ext cx="3406006" cy="1796649"/>
          </a:xfrm>
          <a:prstGeom prst="rect">
            <a:avLst/>
          </a:prstGeom>
        </p:spPr>
      </p:pic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5EE0ABC6-8305-1D3B-207A-9CC3816153F5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1C472B35-23B4-3E96-7C47-202D7A726376}"/>
              </a:ext>
            </a:extLst>
          </p:cNvPr>
          <p:cNvSpPr/>
          <p:nvPr/>
        </p:nvSpPr>
        <p:spPr>
          <a:xfrm>
            <a:off x="-290944" y="2925126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69F613D-20DC-C061-27C1-06104EF94375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800442F-3BB2-E220-3F3B-1EDEB5719BBE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8D15120-1F68-6058-B391-7D51853B8C4F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A351F61-316B-F848-7054-D65A72FBC7D6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9A26C61-4C8B-75A0-8C9C-80B4DEA4A8F2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57FBFA-ADD2-9447-C31B-1ED7315EEB06}"/>
              </a:ext>
            </a:extLst>
          </p:cNvPr>
          <p:cNvSpPr txBox="1"/>
          <p:nvPr/>
        </p:nvSpPr>
        <p:spPr>
          <a:xfrm>
            <a:off x="2359" y="2950527"/>
            <a:ext cx="1040670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Arquitectura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9D1943C-4EF0-BD60-08C1-DF89CADD2A4D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6760DC2-57C5-EE03-0EFC-4DAF9A540C01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0B4F0AB-A104-A095-8817-E9EB915F6CA3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1B6A5D2-FD75-3F23-7CF8-D80EC1A4BC8E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50029313-0F6C-462E-BC09-0B2A21574D0A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7608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B366F6-FF4F-455C-A3FB-A47A25ECF30A}"/>
              </a:ext>
            </a:extLst>
          </p:cNvPr>
          <p:cNvSpPr txBox="1"/>
          <p:nvPr/>
        </p:nvSpPr>
        <p:spPr>
          <a:xfrm>
            <a:off x="1422400" y="748145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El visor y el panel lateral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EB91BAD-3E79-4927-8A5E-E3AC9646D8BC}"/>
              </a:ext>
            </a:extLst>
          </p:cNvPr>
          <p:cNvSpPr/>
          <p:nvPr/>
        </p:nvSpPr>
        <p:spPr>
          <a:xfrm>
            <a:off x="1447800" y="1306945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6A5CF07-4CF5-4A10-A323-A4273C6FF055}"/>
              </a:ext>
            </a:extLst>
          </p:cNvPr>
          <p:cNvSpPr/>
          <p:nvPr/>
        </p:nvSpPr>
        <p:spPr>
          <a:xfrm>
            <a:off x="1422400" y="1676400"/>
            <a:ext cx="3338945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42FE05-42ED-427E-94C8-8B5FE7C41055}"/>
              </a:ext>
            </a:extLst>
          </p:cNvPr>
          <p:cNvSpPr/>
          <p:nvPr/>
        </p:nvSpPr>
        <p:spPr>
          <a:xfrm>
            <a:off x="1422400" y="1676400"/>
            <a:ext cx="3338946" cy="431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891C724-77CA-497E-B475-A05CAEBB6DB8}"/>
              </a:ext>
            </a:extLst>
          </p:cNvPr>
          <p:cNvSpPr txBox="1"/>
          <p:nvPr/>
        </p:nvSpPr>
        <p:spPr>
          <a:xfrm>
            <a:off x="1422400" y="1762467"/>
            <a:ext cx="2027382" cy="3231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 dirty="0">
                <a:solidFill>
                  <a:srgbClr val="FFFFFF"/>
                </a:solidFill>
                <a:latin typeface="Montserrat"/>
              </a:rPr>
              <a:t>Visor interactivo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D37242-822C-4952-A8FD-B2691BD9806E}"/>
              </a:ext>
            </a:extLst>
          </p:cNvPr>
          <p:cNvSpPr txBox="1"/>
          <p:nvPr/>
        </p:nvSpPr>
        <p:spPr>
          <a:xfrm>
            <a:off x="1459345" y="2260600"/>
            <a:ext cx="3403600" cy="228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Mapa </a:t>
            </a:r>
            <a:r>
              <a:rPr lang="es-ES" sz="13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Leaflet</a:t>
            </a:r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 con capas base configurables
•  Epicentros coloreados por magnitud
•  Elipses de error y polígonos de zona
•  </a:t>
            </a:r>
            <a:r>
              <a:rPr lang="es-ES" sz="13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Popups</a:t>
            </a:r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 con datos de cada evento
•  Zoom, filtros y leyenda dinámica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8F5A535-DB7D-4063-A777-FE8C89B9B31E}"/>
              </a:ext>
            </a:extLst>
          </p:cNvPr>
          <p:cNvSpPr/>
          <p:nvPr/>
        </p:nvSpPr>
        <p:spPr>
          <a:xfrm>
            <a:off x="4913746" y="1676400"/>
            <a:ext cx="38100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D3ACB11-81A5-475C-9012-9C25D411ADF1}"/>
              </a:ext>
            </a:extLst>
          </p:cNvPr>
          <p:cNvSpPr/>
          <p:nvPr/>
        </p:nvSpPr>
        <p:spPr>
          <a:xfrm>
            <a:off x="4913746" y="1676400"/>
            <a:ext cx="3810000" cy="4318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C488F1-3B32-43CE-BB3A-19660084BDBE}"/>
              </a:ext>
            </a:extLst>
          </p:cNvPr>
          <p:cNvSpPr txBox="1"/>
          <p:nvPr/>
        </p:nvSpPr>
        <p:spPr>
          <a:xfrm>
            <a:off x="5116946" y="1778000"/>
            <a:ext cx="3403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Montserrat"/>
              </a:rPr>
              <a:t>Panel lateral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02CD16E-504C-4961-B791-695B54FAFA3D}"/>
              </a:ext>
            </a:extLst>
          </p:cNvPr>
          <p:cNvSpPr/>
          <p:nvPr/>
        </p:nvSpPr>
        <p:spPr>
          <a:xfrm>
            <a:off x="5116946" y="2260600"/>
            <a:ext cx="1651000" cy="330200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674275-AD22-4FC7-BEA1-3C7FA306B70E}"/>
              </a:ext>
            </a:extLst>
          </p:cNvPr>
          <p:cNvSpPr txBox="1"/>
          <p:nvPr/>
        </p:nvSpPr>
        <p:spPr>
          <a:xfrm>
            <a:off x="5269346" y="2291903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Pestaña, Datos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24DD09-031A-4F05-82A9-ABB654F13468}"/>
              </a:ext>
            </a:extLst>
          </p:cNvPr>
          <p:cNvSpPr txBox="1"/>
          <p:nvPr/>
        </p:nvSpPr>
        <p:spPr>
          <a:xfrm>
            <a:off x="5116946" y="2667000"/>
            <a:ext cx="3403600" cy="69249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Carga de catálogo CSV y zonas SHP, análisis de completitud (opcional) y opciones de visualización.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18B7482-E168-401B-86C2-D93AE93EDDF3}"/>
              </a:ext>
            </a:extLst>
          </p:cNvPr>
          <p:cNvSpPr/>
          <p:nvPr/>
        </p:nvSpPr>
        <p:spPr>
          <a:xfrm>
            <a:off x="5116946" y="3378200"/>
            <a:ext cx="1803400" cy="330200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8EFB6C-DE2F-4804-AD48-B2B8FFA732DE}"/>
              </a:ext>
            </a:extLst>
          </p:cNvPr>
          <p:cNvSpPr txBox="1"/>
          <p:nvPr/>
        </p:nvSpPr>
        <p:spPr>
          <a:xfrm>
            <a:off x="5269346" y="3403600"/>
            <a:ext cx="1549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Pestaña, Análisis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152218A-EE64-4E30-87FE-2A0E51846519}"/>
              </a:ext>
            </a:extLst>
          </p:cNvPr>
          <p:cNvSpPr txBox="1"/>
          <p:nvPr/>
        </p:nvSpPr>
        <p:spPr>
          <a:xfrm>
            <a:off x="5116946" y="3738451"/>
            <a:ext cx="34036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Edición interactiva de terremotos y gráfica Gutenberg-Richter (MMCC / MV).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ED3016-7D3E-4E9C-9703-8A1E41E39EA5}"/>
              </a:ext>
            </a:extLst>
          </p:cNvPr>
          <p:cNvSpPr txBox="1"/>
          <p:nvPr/>
        </p:nvSpPr>
        <p:spPr>
          <a:xfrm>
            <a:off x="5116946" y="4246451"/>
            <a:ext cx="3403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dirty="0">
                <a:solidFill>
                  <a:srgbClr val="44618A"/>
                </a:solidFill>
                <a:latin typeface="Calibri"/>
                <a:ea typeface="Calibri"/>
                <a:cs typeface="Calibri"/>
              </a:rPr>
              <a:t>Incluye cabecera, mensajes de estado y accesos directos a widgets.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94DB46-9136-47C5-AB1C-EC1C99037BD2}"/>
              </a:ext>
            </a:extLst>
          </p:cNvPr>
          <p:cNvSpPr/>
          <p:nvPr/>
        </p:nvSpPr>
        <p:spPr>
          <a:xfrm>
            <a:off x="1422400" y="1676400"/>
            <a:ext cx="3338946" cy="635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83472C2-F86A-4E3A-9B17-5DC700FC16A5}"/>
              </a:ext>
            </a:extLst>
          </p:cNvPr>
          <p:cNvSpPr/>
          <p:nvPr/>
        </p:nvSpPr>
        <p:spPr>
          <a:xfrm>
            <a:off x="4913746" y="1676400"/>
            <a:ext cx="3810000" cy="635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58C60867-8B6D-02B3-926B-BD7AD11117E3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E675F69-619F-26F5-0D1B-4636890E9D43}"/>
              </a:ext>
            </a:extLst>
          </p:cNvPr>
          <p:cNvSpPr/>
          <p:nvPr/>
        </p:nvSpPr>
        <p:spPr>
          <a:xfrm>
            <a:off x="-293268" y="2925126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4C8D80E-3BB0-1A82-F0A3-367A4E710DF3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36DA8FA-3D3F-3D2C-F737-7A733BFD38E2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A351604-24BA-CC41-3836-7FE0E0341E20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5FD5851-50AB-851E-7B49-1AA4D13B25AB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944D08F-CD10-20D8-692B-BECE80FA3289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BE5F2FD-F121-52E5-4DF2-8005BF9A5F7B}"/>
              </a:ext>
            </a:extLst>
          </p:cNvPr>
          <p:cNvSpPr txBox="1"/>
          <p:nvPr/>
        </p:nvSpPr>
        <p:spPr>
          <a:xfrm>
            <a:off x="2359" y="2950527"/>
            <a:ext cx="1040670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Arquitectura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C045FBC-E011-4393-605F-5A1DB79D978A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941CFE8-D04A-A9E5-4348-784C0C979B5A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71AB9F1-B904-6457-7F53-386F37A36D94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D7CE32C1-9472-5741-6233-9CE8AB728419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FB316772-B3D1-4B48-BBF7-42D96A63EB27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40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7EA2305-D187-4BA7-A9FA-8399E1A561BB}"/>
              </a:ext>
            </a:extLst>
          </p:cNvPr>
          <p:cNvSpPr txBox="1"/>
          <p:nvPr/>
        </p:nvSpPr>
        <p:spPr>
          <a:xfrm>
            <a:off x="1422400" y="735445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Widgets y flujo de trabajo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869CDBB-96FB-431F-83F1-A98CE14B063A}"/>
              </a:ext>
            </a:extLst>
          </p:cNvPr>
          <p:cNvSpPr/>
          <p:nvPr/>
        </p:nvSpPr>
        <p:spPr>
          <a:xfrm>
            <a:off x="1447799" y="1294245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32C6D-1F4B-4D90-A925-AE03863185EF}"/>
              </a:ext>
            </a:extLst>
          </p:cNvPr>
          <p:cNvSpPr txBox="1"/>
          <p:nvPr/>
        </p:nvSpPr>
        <p:spPr>
          <a:xfrm>
            <a:off x="1422400" y="1548245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 dirty="0">
                <a:solidFill>
                  <a:srgbClr val="1B5FA8"/>
                </a:solidFill>
                <a:latin typeface="Montserrat"/>
              </a:rPr>
              <a:t>Widgets del mapa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3997837-22EA-4FCE-8243-DB691623AA67}"/>
              </a:ext>
            </a:extLst>
          </p:cNvPr>
          <p:cNvSpPr/>
          <p:nvPr/>
        </p:nvSpPr>
        <p:spPr>
          <a:xfrm>
            <a:off x="1422400" y="1878445"/>
            <a:ext cx="812800" cy="355600"/>
          </a:xfrm>
          <a:prstGeom prst="roundRect">
            <a:avLst/>
          </a:prstGeom>
          <a:solidFill>
            <a:srgbClr val="E8F1FB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820650-6B31-49D5-85F0-F2F04EA37871}"/>
              </a:ext>
            </a:extLst>
          </p:cNvPr>
          <p:cNvSpPr txBox="1"/>
          <p:nvPr/>
        </p:nvSpPr>
        <p:spPr>
          <a:xfrm>
            <a:off x="1531870" y="1910610"/>
            <a:ext cx="621406" cy="28469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Capas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21D3B3A-E4BA-425C-B523-08E2298CEAAE}"/>
              </a:ext>
            </a:extLst>
          </p:cNvPr>
          <p:cNvSpPr/>
          <p:nvPr/>
        </p:nvSpPr>
        <p:spPr>
          <a:xfrm>
            <a:off x="2349499" y="1878445"/>
            <a:ext cx="990600" cy="355600"/>
          </a:xfrm>
          <a:prstGeom prst="roundRect">
            <a:avLst/>
          </a:prstGeom>
          <a:solidFill>
            <a:srgbClr val="E8F1FB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DE7035-2D69-4E43-8B7C-997F37BE4D9A}"/>
              </a:ext>
            </a:extLst>
          </p:cNvPr>
          <p:cNvSpPr txBox="1"/>
          <p:nvPr/>
        </p:nvSpPr>
        <p:spPr>
          <a:xfrm>
            <a:off x="2521128" y="1907524"/>
            <a:ext cx="647342" cy="28469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Filtros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C2FCC2F-5CC0-40FC-8B1C-68DCBCC485F0}"/>
              </a:ext>
            </a:extLst>
          </p:cNvPr>
          <p:cNvSpPr/>
          <p:nvPr/>
        </p:nvSpPr>
        <p:spPr>
          <a:xfrm>
            <a:off x="3454399" y="1878445"/>
            <a:ext cx="1422400" cy="355600"/>
          </a:xfrm>
          <a:prstGeom prst="roundRect">
            <a:avLst/>
          </a:prstGeom>
          <a:solidFill>
            <a:srgbClr val="E8F1FB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C9CAB9-6B00-4E66-8240-15768E2324F1}"/>
              </a:ext>
            </a:extLst>
          </p:cNvPr>
          <p:cNvSpPr txBox="1"/>
          <p:nvPr/>
        </p:nvSpPr>
        <p:spPr>
          <a:xfrm>
            <a:off x="3670299" y="1913898"/>
            <a:ext cx="990600" cy="28469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Exportación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A7DA539-9402-413E-AB88-74AAD93209F1}"/>
              </a:ext>
            </a:extLst>
          </p:cNvPr>
          <p:cNvSpPr/>
          <p:nvPr/>
        </p:nvSpPr>
        <p:spPr>
          <a:xfrm>
            <a:off x="4991099" y="1878445"/>
            <a:ext cx="1016000" cy="355600"/>
          </a:xfrm>
          <a:prstGeom prst="roundRect">
            <a:avLst/>
          </a:prstGeom>
          <a:solidFill>
            <a:srgbClr val="E8F1FB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711BA2-E72B-4F55-AE1C-4221487C28A3}"/>
              </a:ext>
            </a:extLst>
          </p:cNvPr>
          <p:cNvSpPr txBox="1"/>
          <p:nvPr/>
        </p:nvSpPr>
        <p:spPr>
          <a:xfrm>
            <a:off x="5128117" y="1898024"/>
            <a:ext cx="749302" cy="28469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Leyenda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577A91C-3D47-4437-95BD-65FC0A6DC79C}"/>
              </a:ext>
            </a:extLst>
          </p:cNvPr>
          <p:cNvSpPr/>
          <p:nvPr/>
        </p:nvSpPr>
        <p:spPr>
          <a:xfrm>
            <a:off x="6121399" y="1878445"/>
            <a:ext cx="1422400" cy="355600"/>
          </a:xfrm>
          <a:prstGeom prst="roundRect">
            <a:avLst/>
          </a:prstGeom>
          <a:solidFill>
            <a:srgbClr val="E8F1FB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2FC3F2-D988-4DE4-B07A-BD53ED5995B3}"/>
              </a:ext>
            </a:extLst>
          </p:cNvPr>
          <p:cNvSpPr txBox="1"/>
          <p:nvPr/>
        </p:nvSpPr>
        <p:spPr>
          <a:xfrm>
            <a:off x="6298841" y="1904902"/>
            <a:ext cx="1067515" cy="28469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Completitud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A6746C4-E6A1-4B87-9F29-501874E109D9}"/>
              </a:ext>
            </a:extLst>
          </p:cNvPr>
          <p:cNvSpPr txBox="1"/>
          <p:nvPr/>
        </p:nvSpPr>
        <p:spPr>
          <a:xfrm>
            <a:off x="1422400" y="2513445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>
                <a:solidFill>
                  <a:srgbClr val="1B5FA8"/>
                </a:solidFill>
                <a:latin typeface="Montserrat"/>
              </a:rPr>
              <a:t>Flujo de trabajo típico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571B260-8E33-4F51-8797-BC024C4D5711}"/>
              </a:ext>
            </a:extLst>
          </p:cNvPr>
          <p:cNvSpPr/>
          <p:nvPr/>
        </p:nvSpPr>
        <p:spPr>
          <a:xfrm>
            <a:off x="2206170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7C2FAE2-81AB-44D6-A952-376F75CF5F4F}"/>
              </a:ext>
            </a:extLst>
          </p:cNvPr>
          <p:cNvSpPr/>
          <p:nvPr/>
        </p:nvSpPr>
        <p:spPr>
          <a:xfrm>
            <a:off x="3316514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756937-E7D0-4FA4-AE04-1D5B0AD39EA0}"/>
              </a:ext>
            </a:extLst>
          </p:cNvPr>
          <p:cNvSpPr/>
          <p:nvPr/>
        </p:nvSpPr>
        <p:spPr>
          <a:xfrm>
            <a:off x="4426856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1B292EA-E12C-4FCA-90CF-07BCADCDF872}"/>
              </a:ext>
            </a:extLst>
          </p:cNvPr>
          <p:cNvSpPr/>
          <p:nvPr/>
        </p:nvSpPr>
        <p:spPr>
          <a:xfrm>
            <a:off x="5537199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095D6CC-6A3B-4322-A58C-C8873D860571}"/>
              </a:ext>
            </a:extLst>
          </p:cNvPr>
          <p:cNvSpPr/>
          <p:nvPr/>
        </p:nvSpPr>
        <p:spPr>
          <a:xfrm>
            <a:off x="6647541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2C84F52-7CDE-4AD9-BDE4-DF1765E846A2}"/>
              </a:ext>
            </a:extLst>
          </p:cNvPr>
          <p:cNvSpPr/>
          <p:nvPr/>
        </p:nvSpPr>
        <p:spPr>
          <a:xfrm>
            <a:off x="7757885" y="3180195"/>
            <a:ext cx="653142" cy="38100"/>
          </a:xfrm>
          <a:prstGeom prst="rect">
            <a:avLst/>
          </a:prstGeom>
          <a:solidFill>
            <a:srgbClr val="2E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D0DF2BE-92F4-4E90-863F-60D2E65807A4}"/>
              </a:ext>
            </a:extLst>
          </p:cNvPr>
          <p:cNvSpPr/>
          <p:nvPr/>
        </p:nvSpPr>
        <p:spPr>
          <a:xfrm>
            <a:off x="1748970" y="2970645"/>
            <a:ext cx="457200" cy="4572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1039C53-350F-45C9-B715-1521A34E4083}"/>
              </a:ext>
            </a:extLst>
          </p:cNvPr>
          <p:cNvSpPr txBox="1"/>
          <p:nvPr/>
        </p:nvSpPr>
        <p:spPr>
          <a:xfrm>
            <a:off x="1473199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Cargar
catálogo CSV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2562E2B-980D-4F8B-AAE7-E19ADA729587}"/>
              </a:ext>
            </a:extLst>
          </p:cNvPr>
          <p:cNvSpPr/>
          <p:nvPr/>
        </p:nvSpPr>
        <p:spPr>
          <a:xfrm>
            <a:off x="2859314" y="2970645"/>
            <a:ext cx="457200" cy="4572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E6BD9AC-3FA4-4A28-8C36-DBF78C2DB9CB}"/>
              </a:ext>
            </a:extLst>
          </p:cNvPr>
          <p:cNvSpPr txBox="1"/>
          <p:nvPr/>
        </p:nvSpPr>
        <p:spPr>
          <a:xfrm>
            <a:off x="2583541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Cargar
zonas SHP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383966C-A0DF-4475-A4B8-3B7DB180A8A7}"/>
              </a:ext>
            </a:extLst>
          </p:cNvPr>
          <p:cNvSpPr/>
          <p:nvPr/>
        </p:nvSpPr>
        <p:spPr>
          <a:xfrm>
            <a:off x="3969656" y="2970645"/>
            <a:ext cx="457200" cy="4572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CFD9AD9-EA11-4AEC-A669-9B33D69D6115}"/>
              </a:ext>
            </a:extLst>
          </p:cNvPr>
          <p:cNvSpPr txBox="1"/>
          <p:nvPr/>
        </p:nvSpPr>
        <p:spPr>
          <a:xfrm>
            <a:off x="3693885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Completitud
(Mc)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EBA0830B-E6B2-43D9-B8F3-A90DE0E657B2}"/>
              </a:ext>
            </a:extLst>
          </p:cNvPr>
          <p:cNvSpPr/>
          <p:nvPr/>
        </p:nvSpPr>
        <p:spPr>
          <a:xfrm>
            <a:off x="5079999" y="2970645"/>
            <a:ext cx="457200" cy="457200"/>
          </a:xfrm>
          <a:prstGeom prst="ellipse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5C8B4FC-8128-4D6E-A85C-1792D657EFB9}"/>
              </a:ext>
            </a:extLst>
          </p:cNvPr>
          <p:cNvSpPr txBox="1"/>
          <p:nvPr/>
        </p:nvSpPr>
        <p:spPr>
          <a:xfrm>
            <a:off x="4804227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Filtrar y
visualizar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4FB9E56-3275-4580-B3DB-7FB3992CAE5B}"/>
              </a:ext>
            </a:extLst>
          </p:cNvPr>
          <p:cNvSpPr/>
          <p:nvPr/>
        </p:nvSpPr>
        <p:spPr>
          <a:xfrm>
            <a:off x="6190341" y="2970645"/>
            <a:ext cx="457200" cy="457200"/>
          </a:xfrm>
          <a:prstGeom prst="ellipse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97AAACB-14B3-41AC-8998-CE7477C39802}"/>
              </a:ext>
            </a:extLst>
          </p:cNvPr>
          <p:cNvSpPr txBox="1"/>
          <p:nvPr/>
        </p:nvSpPr>
        <p:spPr>
          <a:xfrm>
            <a:off x="5914570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Editar
epicentros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11BDAA0-91A0-4A21-86FA-C3B48FE49726}"/>
              </a:ext>
            </a:extLst>
          </p:cNvPr>
          <p:cNvSpPr/>
          <p:nvPr/>
        </p:nvSpPr>
        <p:spPr>
          <a:xfrm>
            <a:off x="7300685" y="2970645"/>
            <a:ext cx="457200" cy="457200"/>
          </a:xfrm>
          <a:prstGeom prst="ellipse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C8EE532-958B-4284-8417-E64BC06741CB}"/>
              </a:ext>
            </a:extLst>
          </p:cNvPr>
          <p:cNvSpPr txBox="1"/>
          <p:nvPr/>
        </p:nvSpPr>
        <p:spPr>
          <a:xfrm>
            <a:off x="7024914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Ajustar
G-R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D2BF68F-9539-4757-92D3-F52A9CABFA88}"/>
              </a:ext>
            </a:extLst>
          </p:cNvPr>
          <p:cNvSpPr/>
          <p:nvPr/>
        </p:nvSpPr>
        <p:spPr>
          <a:xfrm>
            <a:off x="8411028" y="2970645"/>
            <a:ext cx="457200" cy="457200"/>
          </a:xfrm>
          <a:prstGeom prst="ellipse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9CDAACA-ACD9-4896-B6E7-9847A602AD68}"/>
              </a:ext>
            </a:extLst>
          </p:cNvPr>
          <p:cNvSpPr txBox="1"/>
          <p:nvPr/>
        </p:nvSpPr>
        <p:spPr>
          <a:xfrm>
            <a:off x="8135256" y="3529445"/>
            <a:ext cx="1008742" cy="4616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s-ES" sz="12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Exportar
resultados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DE3E63FE-74B3-302F-7C4D-6E677C342F7A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10B91A-D56E-ECBD-446B-74C124D76148}"/>
              </a:ext>
            </a:extLst>
          </p:cNvPr>
          <p:cNvSpPr/>
          <p:nvPr/>
        </p:nvSpPr>
        <p:spPr>
          <a:xfrm>
            <a:off x="-277740" y="3250569"/>
            <a:ext cx="1500204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FD5C4DD2-B34A-496F-0B34-40A972AB978C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1AA3EED-73AC-845F-488A-3042C1E3864B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7AF06FD-6DD4-2D58-D65F-877AF935F974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33C0DB16-F8BF-9FA0-F626-D17BF7B76F4E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376D9BD-AD77-7CD7-A882-70376E0686B9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0B40591-260B-6902-7B92-F2E85BA65FCF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246025C1-1DD0-0E6A-13AB-153F0EF99937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Funcionamiento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B852D4C-74DF-6F48-9DB4-B8B195FF0914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184A1790-8E6A-7FEB-E14E-1B38212272A0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2A7C1AA-D1C1-837E-83BE-A512A41B4D97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0B384F77-333E-4938-8762-1CE9F050A3B9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1812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891E46-0ACE-42A8-A29A-FB002AEF5C25}"/>
              </a:ext>
            </a:extLst>
          </p:cNvPr>
          <p:cNvSpPr txBox="1"/>
          <p:nvPr/>
        </p:nvSpPr>
        <p:spPr>
          <a:xfrm>
            <a:off x="1422400" y="764257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Datos y configuración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578E7D-F2D0-4593-A0FE-1E276444FA45}"/>
              </a:ext>
            </a:extLst>
          </p:cNvPr>
          <p:cNvSpPr/>
          <p:nvPr/>
        </p:nvSpPr>
        <p:spPr>
          <a:xfrm>
            <a:off x="1447800" y="1323057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E0B157E-346E-4761-A09D-81F323B47C84}"/>
              </a:ext>
            </a:extLst>
          </p:cNvPr>
          <p:cNvSpPr/>
          <p:nvPr/>
        </p:nvSpPr>
        <p:spPr>
          <a:xfrm>
            <a:off x="1454460" y="1671782"/>
            <a:ext cx="357474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98A997-E218-49FB-8169-76E761CBF339}"/>
              </a:ext>
            </a:extLst>
          </p:cNvPr>
          <p:cNvSpPr/>
          <p:nvPr/>
        </p:nvSpPr>
        <p:spPr>
          <a:xfrm>
            <a:off x="1454460" y="1671782"/>
            <a:ext cx="3574740" cy="4318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3A6549-316E-41DC-B63C-DD8B30319E3A}"/>
              </a:ext>
            </a:extLst>
          </p:cNvPr>
          <p:cNvSpPr txBox="1"/>
          <p:nvPr/>
        </p:nvSpPr>
        <p:spPr>
          <a:xfrm>
            <a:off x="1422400" y="1773382"/>
            <a:ext cx="3403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>
                <a:solidFill>
                  <a:srgbClr val="FFFFFF"/>
                </a:solidFill>
                <a:latin typeface="Montserrat"/>
              </a:rPr>
              <a:t>Datos y zonas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EEA6ED-6719-486D-B8C2-A562C56665FE}"/>
              </a:ext>
            </a:extLst>
          </p:cNvPr>
          <p:cNvSpPr txBox="1"/>
          <p:nvPr/>
        </p:nvSpPr>
        <p:spPr>
          <a:xfrm>
            <a:off x="1509867" y="2166961"/>
            <a:ext cx="3403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 dirty="0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Catálogo sísmico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C456E12-987D-4EEE-A5E7-638509E6846A}"/>
              </a:ext>
            </a:extLst>
          </p:cNvPr>
          <p:cNvSpPr txBox="1"/>
          <p:nvPr/>
        </p:nvSpPr>
        <p:spPr>
          <a:xfrm>
            <a:off x="1509867" y="2420961"/>
            <a:ext cx="3403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ISC-GEM v9.1 (</a:t>
            </a:r>
            <a:r>
              <a:rPr lang="es-ES" sz="130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Storchak</a:t>
            </a:r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 et al., 2013): localizaciones homogéneas con incertidumbre asociada.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6656E2-0E15-4978-A5CA-8B2630CBE8E1}"/>
              </a:ext>
            </a:extLst>
          </p:cNvPr>
          <p:cNvSpPr txBox="1"/>
          <p:nvPr/>
        </p:nvSpPr>
        <p:spPr>
          <a:xfrm>
            <a:off x="1509867" y="3055961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Zonificación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A6B507-CD46-4CE9-AF7A-12E3DC5EA7A9}"/>
              </a:ext>
            </a:extLst>
          </p:cNvPr>
          <p:cNvSpPr txBox="1"/>
          <p:nvPr/>
        </p:nvSpPr>
        <p:spPr>
          <a:xfrm>
            <a:off x="1509867" y="3309961"/>
            <a:ext cx="3403600" cy="4770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Alvarado et al. (2017): 3 regímenes tectónicos (cortical, interplaca, intraplaca).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61E37E-CC27-43AF-9DE7-30EAFC69F04F}"/>
              </a:ext>
            </a:extLst>
          </p:cNvPr>
          <p:cNvSpPr txBox="1"/>
          <p:nvPr/>
        </p:nvSpPr>
        <p:spPr>
          <a:xfrm>
            <a:off x="1509867" y="3817961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Completitud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DA1552-0E8A-4ED2-A989-2A03423B5F74}"/>
              </a:ext>
            </a:extLst>
          </p:cNvPr>
          <p:cNvSpPr txBox="1"/>
          <p:nvPr/>
        </p:nvSpPr>
        <p:spPr>
          <a:xfrm>
            <a:off x="1509867" y="4071961"/>
            <a:ext cx="3403600" cy="4770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Gamboa-Canté et al. (2024), método de Stepp, catálogo regional centroamericano.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E6DD26D-E840-4F53-AC5E-4162DD751130}"/>
              </a:ext>
            </a:extLst>
          </p:cNvPr>
          <p:cNvSpPr/>
          <p:nvPr/>
        </p:nvSpPr>
        <p:spPr>
          <a:xfrm>
            <a:off x="5181600" y="1671782"/>
            <a:ext cx="38100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 dirty="0">
              <a:solidFill>
                <a:srgbClr val="0C2340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D75225-2216-4FD3-AC78-5BCD90951AC6}"/>
              </a:ext>
            </a:extLst>
          </p:cNvPr>
          <p:cNvSpPr/>
          <p:nvPr/>
        </p:nvSpPr>
        <p:spPr>
          <a:xfrm>
            <a:off x="5181600" y="1671782"/>
            <a:ext cx="3810000" cy="431800"/>
          </a:xfrm>
          <a:prstGeom prst="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4FE07B-A85F-4864-BDF8-27D39A284771}"/>
              </a:ext>
            </a:extLst>
          </p:cNvPr>
          <p:cNvSpPr txBox="1"/>
          <p:nvPr/>
        </p:nvSpPr>
        <p:spPr>
          <a:xfrm>
            <a:off x="5384800" y="1773382"/>
            <a:ext cx="3403600" cy="3231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Configuración, Centroamérica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02D14F-FE1A-44B6-99EA-A8485EF94875}"/>
              </a:ext>
            </a:extLst>
          </p:cNvPr>
          <p:cNvSpPr txBox="1"/>
          <p:nvPr/>
        </p:nvSpPr>
        <p:spPr>
          <a:xfrm>
            <a:off x="5384800" y="2134647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Rango de magnitud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0D9EB00-C808-44D5-A24F-22F695CAC29B}"/>
              </a:ext>
            </a:extLst>
          </p:cNvPr>
          <p:cNvSpPr txBox="1"/>
          <p:nvPr/>
        </p:nvSpPr>
        <p:spPr>
          <a:xfrm>
            <a:off x="5384800" y="2363247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 dirty="0" err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Mw</a:t>
            </a:r>
            <a:r>
              <a:rPr lang="es-ES" sz="13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 ≥ 5,5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22E1CE6-9D9D-4879-A479-C5DB87129294}"/>
              </a:ext>
            </a:extLst>
          </p:cNvPr>
          <p:cNvSpPr/>
          <p:nvPr/>
        </p:nvSpPr>
        <p:spPr>
          <a:xfrm>
            <a:off x="5384800" y="2617247"/>
            <a:ext cx="3403600" cy="12700"/>
          </a:xfrm>
          <a:prstGeom prst="rect">
            <a:avLst/>
          </a:prstGeom>
          <a:solidFill>
            <a:srgbClr val="E1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319A1FD-C43D-4527-B92A-A85BF160C94F}"/>
              </a:ext>
            </a:extLst>
          </p:cNvPr>
          <p:cNvSpPr txBox="1"/>
          <p:nvPr/>
        </p:nvSpPr>
        <p:spPr>
          <a:xfrm>
            <a:off x="5384800" y="2629947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Profundidad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A048E14-6CBA-4B39-BB5A-551892A75E05}"/>
              </a:ext>
            </a:extLst>
          </p:cNvPr>
          <p:cNvSpPr txBox="1"/>
          <p:nvPr/>
        </p:nvSpPr>
        <p:spPr>
          <a:xfrm>
            <a:off x="5384800" y="2858547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0-30 / 0-60 / &gt;60 km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A2F0B8F-0075-4FD2-9055-7B694596BB4F}"/>
              </a:ext>
            </a:extLst>
          </p:cNvPr>
          <p:cNvSpPr/>
          <p:nvPr/>
        </p:nvSpPr>
        <p:spPr>
          <a:xfrm>
            <a:off x="5384800" y="3112547"/>
            <a:ext cx="3403600" cy="12700"/>
          </a:xfrm>
          <a:prstGeom prst="rect">
            <a:avLst/>
          </a:prstGeom>
          <a:solidFill>
            <a:srgbClr val="E1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6EC8B6-C801-4BF3-8D5C-B95BABC59694}"/>
              </a:ext>
            </a:extLst>
          </p:cNvPr>
          <p:cNvSpPr txBox="1"/>
          <p:nvPr/>
        </p:nvSpPr>
        <p:spPr>
          <a:xfrm>
            <a:off x="5384800" y="3125247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Periodo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13AAFD1-D19A-4E97-B9AB-874F225ED989}"/>
              </a:ext>
            </a:extLst>
          </p:cNvPr>
          <p:cNvSpPr txBox="1"/>
          <p:nvPr/>
        </p:nvSpPr>
        <p:spPr>
          <a:xfrm>
            <a:off x="5384800" y="3353847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1904-2021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F3C8F49-4C85-46F1-98F6-3069E5F41910}"/>
              </a:ext>
            </a:extLst>
          </p:cNvPr>
          <p:cNvSpPr/>
          <p:nvPr/>
        </p:nvSpPr>
        <p:spPr>
          <a:xfrm>
            <a:off x="5384800" y="3607847"/>
            <a:ext cx="3403600" cy="12700"/>
          </a:xfrm>
          <a:prstGeom prst="rect">
            <a:avLst/>
          </a:prstGeom>
          <a:solidFill>
            <a:srgbClr val="E1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6" name="CuadroTexto 25">
            <a:hlinkClick r:id="rId3"/>
            <a:extLst>
              <a:ext uri="{FF2B5EF4-FFF2-40B4-BE49-F238E27FC236}">
                <a16:creationId xmlns:a16="http://schemas.microsoft.com/office/drawing/2014/main" id="{27F372E5-2BC0-4F2F-94DA-42AA64412184}"/>
              </a:ext>
            </a:extLst>
          </p:cNvPr>
          <p:cNvSpPr txBox="1"/>
          <p:nvPr/>
        </p:nvSpPr>
        <p:spPr>
          <a:xfrm>
            <a:off x="5384800" y="4141247"/>
            <a:ext cx="19050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b="1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Link a Visor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F346197-CF0A-4518-80C1-5E351F08EAD9}"/>
              </a:ext>
            </a:extLst>
          </p:cNvPr>
          <p:cNvSpPr/>
          <p:nvPr/>
        </p:nvSpPr>
        <p:spPr>
          <a:xfrm>
            <a:off x="5384800" y="4103147"/>
            <a:ext cx="3403600" cy="12700"/>
          </a:xfrm>
          <a:prstGeom prst="rect">
            <a:avLst/>
          </a:prstGeom>
          <a:solidFill>
            <a:srgbClr val="E1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FE6ECB6-ABA5-4DF5-89D5-E6A900644177}"/>
              </a:ext>
            </a:extLst>
          </p:cNvPr>
          <p:cNvSpPr txBox="1"/>
          <p:nvPr/>
        </p:nvSpPr>
        <p:spPr>
          <a:xfrm>
            <a:off x="5384800" y="3620547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Métodos de ajuste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C4B8675-9625-4265-A3BE-A3884CD1D7AF}"/>
              </a:ext>
            </a:extLst>
          </p:cNvPr>
          <p:cNvSpPr txBox="1"/>
          <p:nvPr/>
        </p:nvSpPr>
        <p:spPr>
          <a:xfrm>
            <a:off x="5384800" y="3849147"/>
            <a:ext cx="3403600" cy="30008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b="1" dirty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MMCC y MV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C6E9377-AFFB-42A5-880D-2ABD37F037E5}"/>
              </a:ext>
            </a:extLst>
          </p:cNvPr>
          <p:cNvSpPr/>
          <p:nvPr/>
        </p:nvSpPr>
        <p:spPr>
          <a:xfrm>
            <a:off x="1454460" y="1671782"/>
            <a:ext cx="3574740" cy="635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9A2A9EF-7847-4C46-8E1B-52181DD640CD}"/>
              </a:ext>
            </a:extLst>
          </p:cNvPr>
          <p:cNvSpPr/>
          <p:nvPr/>
        </p:nvSpPr>
        <p:spPr>
          <a:xfrm>
            <a:off x="5181600" y="1671782"/>
            <a:ext cx="3810000" cy="635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53C744CB-E8EB-D8BC-E467-FD77F164DC99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94058CA6-3E02-C5C0-127D-726991B7AF94}"/>
              </a:ext>
            </a:extLst>
          </p:cNvPr>
          <p:cNvSpPr/>
          <p:nvPr/>
        </p:nvSpPr>
        <p:spPr>
          <a:xfrm>
            <a:off x="-288094" y="3575453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B4EE4BA-7441-35C6-B5C2-6F753B0F9CA3}"/>
              </a:ext>
            </a:extLst>
          </p:cNvPr>
          <p:cNvSpPr txBox="1"/>
          <p:nvPr/>
        </p:nvSpPr>
        <p:spPr>
          <a:xfrm>
            <a:off x="8" y="3600853"/>
            <a:ext cx="859531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Resultado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EEDFAC3-12E0-7B9E-420B-A0116FEDCEC9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0376CC1-DAC3-A1C9-89C7-8AC9463580D8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9426C4E2-1CD6-BB0A-D3BD-4AE6708E5750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E8C856DF-6966-1831-E8C3-0F37E5CFA543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13644E87-A94D-81C1-8019-2DCE72CF1708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B3F002C-34E1-5C6D-F7B6-824BF789FEA7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F5965BB-BEF6-8C61-896E-3D93176FEC5C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4343965-FA2B-E35D-B70A-916A6F04E726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E8B1D8C-905F-F176-224E-97FE7400C567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82" name="PageNumberBadge">
            <a:extLst>
              <a:ext uri="{FF2B5EF4-FFF2-40B4-BE49-F238E27FC236}">
                <a16:creationId xmlns:a16="http://schemas.microsoft.com/office/drawing/2014/main" id="{36DDE26D-DA15-41EA-9790-17684AF9EB8A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370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DE00B89-0D01-4511-85F5-DD9B1F6FE020}"/>
              </a:ext>
            </a:extLst>
          </p:cNvPr>
          <p:cNvSpPr txBox="1"/>
          <p:nvPr/>
        </p:nvSpPr>
        <p:spPr>
          <a:xfrm>
            <a:off x="1422400" y="6858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Herramientas comparables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6FB430-D89C-44C3-92E8-877FB75B9366}"/>
              </a:ext>
            </a:extLst>
          </p:cNvPr>
          <p:cNvSpPr/>
          <p:nvPr/>
        </p:nvSpPr>
        <p:spPr>
          <a:xfrm>
            <a:off x="1447800" y="1244600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D7DD447-D47E-42CE-BD30-92F7BAE6A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41652"/>
              </p:ext>
            </p:extLst>
          </p:nvPr>
        </p:nvGraphicFramePr>
        <p:xfrm>
          <a:off x="1422400" y="1600200"/>
          <a:ext cx="7087937" cy="2311400"/>
        </p:xfrm>
        <a:graphic>
          <a:graphicData uri="http://schemas.openxmlformats.org/drawingml/2006/table">
            <a:tbl>
              <a:tblPr/>
              <a:tblGrid>
                <a:gridCol w="1454727">
                  <a:extLst>
                    <a:ext uri="{9D8B030D-6E8A-4147-A177-3AD203B41FA5}">
                      <a16:colId xmlns:a16="http://schemas.microsoft.com/office/drawing/2014/main" val="833054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8166765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2260603440"/>
                    </a:ext>
                  </a:extLst>
                </a:gridCol>
                <a:gridCol w="1011381">
                  <a:extLst>
                    <a:ext uri="{9D8B030D-6E8A-4147-A177-3AD203B41FA5}">
                      <a16:colId xmlns:a16="http://schemas.microsoft.com/office/drawing/2014/main" val="3569364861"/>
                    </a:ext>
                  </a:extLst>
                </a:gridCol>
                <a:gridCol w="1442575">
                  <a:extLst>
                    <a:ext uri="{9D8B030D-6E8A-4147-A177-3AD203B41FA5}">
                      <a16:colId xmlns:a16="http://schemas.microsoft.com/office/drawing/2014/main" val="3856599750"/>
                    </a:ext>
                  </a:extLst>
                </a:gridCol>
                <a:gridCol w="1419726">
                  <a:extLst>
                    <a:ext uri="{9D8B030D-6E8A-4147-A177-3AD203B41FA5}">
                      <a16:colId xmlns:a16="http://schemas.microsoft.com/office/drawing/2014/main" val="59486744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Web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Análisis G-R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Elipses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Zonas SHP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Coste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78678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ZMAP+ (MATLAB)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Parcial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Gratis (acad.)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96322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CRISIS (UNAM)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Gratis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783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ArcGIS Online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 nativo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&gt;1.500 €/año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105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QGIS + plugins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Básico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Gratis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952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Portales IGN/USGS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Gratis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3510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Geoportal TFG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MMCC+ MV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Gratis (open)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B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28615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2CAE2F6-6565-42F3-AC2A-3AB15D8015D2}"/>
              </a:ext>
            </a:extLst>
          </p:cNvPr>
          <p:cNvSpPr txBox="1"/>
          <p:nvPr/>
        </p:nvSpPr>
        <p:spPr>
          <a:xfrm>
            <a:off x="1422400" y="4038600"/>
            <a:ext cx="6539345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Diferenciador clave: el editor interactivo de epicentros es único en una herramienta web.</a:t>
            </a:r>
          </a:p>
          <a:p>
            <a:pPr algn="l"/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Además: ejecución en navegador, software libre y </a:t>
            </a:r>
            <a:r>
              <a:rPr lang="es-ES" sz="13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multiidioma</a:t>
            </a:r>
            <a:r>
              <a:rPr lang="es-ES" sz="13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66FE575-CBB5-1DE7-A22C-639707BBA151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05032B8-D490-7F70-3366-192593AE86AE}"/>
              </a:ext>
            </a:extLst>
          </p:cNvPr>
          <p:cNvSpPr/>
          <p:nvPr/>
        </p:nvSpPr>
        <p:spPr>
          <a:xfrm>
            <a:off x="-290944" y="3879956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59527C7-B482-E436-77D1-27DFB40BD51E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AD3AF17-B847-F689-56E0-E0C14708A5E8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Mercado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1747BC6-2EE6-2917-C336-925C93264D9B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AAF813F-8FA4-127F-5892-58DC954EB69F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688EEA9-9704-21C3-EBEA-048C6909C264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033C53F-36CA-E879-D978-8EC456588B39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900D703-9EFD-83AB-7B0D-A14A367E2EBB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045FB04-DC57-3690-5D10-44285363188E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3AA4629-5921-0374-C7A7-3B6F4C8B442C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89F5445-B948-6CFA-D380-BC2A65D3BC41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2713653F-961E-41C1-A516-7E992D2CC8E9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87172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947C75D-9804-4884-988D-A7C1A38217AB}"/>
              </a:ext>
            </a:extLst>
          </p:cNvPr>
          <p:cNvSpPr txBox="1"/>
          <p:nvPr/>
        </p:nvSpPr>
        <p:spPr>
          <a:xfrm>
            <a:off x="1422400" y="88406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 dirty="0">
                <a:solidFill>
                  <a:srgbClr val="0C2340"/>
                </a:solidFill>
                <a:latin typeface="Montserrat"/>
              </a:rPr>
              <a:t>Presupuesto del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BF0B03-CF1D-47DD-A293-2B54F1D9E6AC}"/>
              </a:ext>
            </a:extLst>
          </p:cNvPr>
          <p:cNvSpPr/>
          <p:nvPr/>
        </p:nvSpPr>
        <p:spPr>
          <a:xfrm>
            <a:off x="1447800" y="1442027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ED10C37-CD07-43BF-952A-C6E3991E1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563098"/>
              </p:ext>
            </p:extLst>
          </p:nvPr>
        </p:nvGraphicFramePr>
        <p:xfrm>
          <a:off x="1476322" y="1939865"/>
          <a:ext cx="3066473" cy="253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473">
                  <a:extLst>
                    <a:ext uri="{9D8B030D-6E8A-4147-A177-3AD203B41FA5}">
                      <a16:colId xmlns:a16="http://schemas.microsoft.com/office/drawing/2014/main" val="24597307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13828498"/>
                    </a:ext>
                  </a:extLst>
                </a:gridCol>
              </a:tblGrid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Coste</a:t>
                      </a:r>
                    </a:p>
                  </a:txBody>
                  <a:tcPr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40665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Costes de personal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17.990,00 €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749627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Costes de 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99,61 €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903685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Costes de software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40,38 €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840654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Otros gastos directos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 dirty="0">
                          <a:solidFill>
                            <a:srgbClr val="33475B"/>
                          </a:solidFill>
                          <a:latin typeface="Calibri"/>
                          <a:ea typeface="Calibri"/>
                          <a:cs typeface="Calibri"/>
                        </a:rPr>
                        <a:t>70,00 €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066436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 b="1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Costes indirectos (15 %)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 b="1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2.730,00 €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85133"/>
                  </a:ext>
                </a:extLst>
              </a:tr>
              <a:tr h="362856">
                <a:tc>
                  <a:txBody>
                    <a:bodyPr/>
                    <a:lstStyle/>
                    <a:p>
                      <a:pPr algn="l"/>
                      <a:r>
                        <a:rPr lang="es-ES" sz="1350" b="1" dirty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Subtotal (sin IVA)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350" b="1" dirty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20.930,00 €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0408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0FBCC14-75D1-4102-B6F8-91A6277F5986}"/>
              </a:ext>
            </a:extLst>
          </p:cNvPr>
          <p:cNvSpPr/>
          <p:nvPr/>
        </p:nvSpPr>
        <p:spPr>
          <a:xfrm>
            <a:off x="4949194" y="2840088"/>
            <a:ext cx="2971800" cy="1498600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3AA646A-554A-4719-8829-A41A5F6F6556}"/>
              </a:ext>
            </a:extLst>
          </p:cNvPr>
          <p:cNvSpPr txBox="1"/>
          <p:nvPr/>
        </p:nvSpPr>
        <p:spPr>
          <a:xfrm>
            <a:off x="5177794" y="2916288"/>
            <a:ext cx="2514600" cy="276999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 dirty="0">
                <a:solidFill>
                  <a:srgbClr val="5B9BD5"/>
                </a:solidFill>
                <a:latin typeface="Montserrat"/>
              </a:rPr>
              <a:t>TOTAL, IVA incl.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FFFA0F-5443-4EDE-9BD4-62725ECE1296}"/>
              </a:ext>
            </a:extLst>
          </p:cNvPr>
          <p:cNvSpPr txBox="1"/>
          <p:nvPr/>
        </p:nvSpPr>
        <p:spPr>
          <a:xfrm>
            <a:off x="5177794" y="3149614"/>
            <a:ext cx="1390124" cy="338554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600" b="1" dirty="0">
                <a:solidFill>
                  <a:srgbClr val="FFFFFF"/>
                </a:solidFill>
                <a:latin typeface="Montserrat"/>
              </a:rPr>
              <a:t>25.325,30 €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4ECAB3-C290-4575-A74D-5694C82F8D07}"/>
              </a:ext>
            </a:extLst>
          </p:cNvPr>
          <p:cNvSpPr txBox="1"/>
          <p:nvPr/>
        </p:nvSpPr>
        <p:spPr>
          <a:xfrm>
            <a:off x="6720775" y="3176783"/>
            <a:ext cx="1125279" cy="26930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 dirty="0">
                <a:solidFill>
                  <a:srgbClr val="5B9BD5"/>
                </a:solidFill>
                <a:latin typeface="Calibri"/>
                <a:ea typeface="Calibri"/>
                <a:cs typeface="Calibri"/>
              </a:rPr>
              <a:t>IVA: 4.395,30€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A88DF45-B866-4CF6-B8F3-DA336E744F1E}"/>
              </a:ext>
            </a:extLst>
          </p:cNvPr>
          <p:cNvSpPr/>
          <p:nvPr/>
        </p:nvSpPr>
        <p:spPr>
          <a:xfrm>
            <a:off x="4949194" y="2181353"/>
            <a:ext cx="2971800" cy="558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E054E-C65E-4F0F-A8E6-5E8220481A11}"/>
              </a:ext>
            </a:extLst>
          </p:cNvPr>
          <p:cNvSpPr txBox="1"/>
          <p:nvPr/>
        </p:nvSpPr>
        <p:spPr>
          <a:xfrm>
            <a:off x="5126994" y="2181353"/>
            <a:ext cx="26162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2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560 h Ing. Junior (25 €/h) + 57 h supervisión Senior (70 €/h).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9F94C25-6E73-FFEE-BD2E-E17247376E92}"/>
              </a:ext>
            </a:extLst>
          </p:cNvPr>
          <p:cNvSpPr txBox="1"/>
          <p:nvPr/>
        </p:nvSpPr>
        <p:spPr>
          <a:xfrm>
            <a:off x="5177794" y="3480846"/>
            <a:ext cx="2514600" cy="276999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00" b="1" dirty="0">
                <a:solidFill>
                  <a:srgbClr val="5B9BD5"/>
                </a:solidFill>
                <a:latin typeface="Montserrat"/>
              </a:rPr>
              <a:t>TOTAL, IVA incl. + IRPF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B2C6594-27AD-B814-0374-FF915CB598E2}"/>
              </a:ext>
            </a:extLst>
          </p:cNvPr>
          <p:cNvSpPr txBox="1"/>
          <p:nvPr/>
        </p:nvSpPr>
        <p:spPr>
          <a:xfrm>
            <a:off x="5181570" y="3740968"/>
            <a:ext cx="1574470" cy="369332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b="1" dirty="0">
                <a:solidFill>
                  <a:srgbClr val="FFFFFF"/>
                </a:solidFill>
                <a:latin typeface="Montserrat"/>
              </a:rPr>
              <a:t>22.626,80</a:t>
            </a:r>
            <a:r>
              <a:rPr lang="es-ES" sz="1600" b="1" dirty="0">
                <a:solidFill>
                  <a:srgbClr val="FFFFFF"/>
                </a:solidFill>
                <a:latin typeface="Montserrat"/>
              </a:rPr>
              <a:t> €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464B49-97DB-2EE0-E5CB-5506ED75C2C7}"/>
              </a:ext>
            </a:extLst>
          </p:cNvPr>
          <p:cNvSpPr txBox="1"/>
          <p:nvPr/>
        </p:nvSpPr>
        <p:spPr>
          <a:xfrm>
            <a:off x="6720775" y="3806371"/>
            <a:ext cx="1125279" cy="26930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150" dirty="0">
                <a:solidFill>
                  <a:srgbClr val="5B9BD5"/>
                </a:solidFill>
                <a:latin typeface="Calibri"/>
                <a:ea typeface="Calibri"/>
                <a:cs typeface="Calibri"/>
              </a:rPr>
              <a:t>IRPF: 2698,50€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AD99D364-E13E-5B8B-6890-8ADEF9F70835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84BEBF4-BB2E-55B6-EDC2-FF092E239B32}"/>
              </a:ext>
            </a:extLst>
          </p:cNvPr>
          <p:cNvSpPr/>
          <p:nvPr/>
        </p:nvSpPr>
        <p:spPr>
          <a:xfrm>
            <a:off x="-290944" y="4173634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08C64EC-DF3A-75D3-DD2F-E6407F678D39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F9D2030-7704-2B3D-9BA8-439951C3E759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A621193-85CE-A50B-0129-AEF06888F04F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Presupuesto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D2628E2-8B68-BCB3-9CF9-1AA8F828AA1D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995F103-1F33-3326-8337-E5B90FA87ABE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AF779BBD-BAAF-33D4-9E0B-5D2B8BFC1671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112B5E5-13C3-3824-38FC-427888DC4F67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3237A96-3649-CF4A-F664-FB5B739998A7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8ADB574-7A27-396C-DABC-6532AC091DE5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326CF38-EB51-B141-BADA-E161D7289F43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E4BB8DEC-A493-424A-A6CE-A0F66F9146B3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301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D8D735-C636-4A33-9BCA-B23AFC3A883A}"/>
              </a:ext>
            </a:extLst>
          </p:cNvPr>
          <p:cNvSpPr txBox="1"/>
          <p:nvPr/>
        </p:nvSpPr>
        <p:spPr>
          <a:xfrm>
            <a:off x="1422400" y="584200"/>
            <a:ext cx="7428344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</a:rPr>
              <a:t>Proyección a cinco años (2027-2031)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0071120-F157-4781-B61B-0BA3D7036F81}"/>
              </a:ext>
            </a:extLst>
          </p:cNvPr>
          <p:cNvSpPr/>
          <p:nvPr/>
        </p:nvSpPr>
        <p:spPr>
          <a:xfrm>
            <a:off x="1447800" y="1168400"/>
            <a:ext cx="762000" cy="508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AB86926-A95C-49CB-938F-C45D8B776964}"/>
              </a:ext>
            </a:extLst>
          </p:cNvPr>
          <p:cNvSpPr/>
          <p:nvPr/>
        </p:nvSpPr>
        <p:spPr>
          <a:xfrm>
            <a:off x="1422400" y="1422400"/>
            <a:ext cx="2667000" cy="2743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EC5229-637D-456F-B9C1-17E85B54D2A6}"/>
              </a:ext>
            </a:extLst>
          </p:cNvPr>
          <p:cNvSpPr txBox="1"/>
          <p:nvPr/>
        </p:nvSpPr>
        <p:spPr>
          <a:xfrm>
            <a:off x="1600200" y="16002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500" b="1">
                <a:solidFill>
                  <a:srgbClr val="1B5FA8"/>
                </a:solidFill>
              </a:rPr>
              <a:t>Hipótesis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2782F1-DB7E-40B2-A520-B7BB0FA71DDC}"/>
              </a:ext>
            </a:extLst>
          </p:cNvPr>
          <p:cNvSpPr txBox="1"/>
          <p:nvPr/>
        </p:nvSpPr>
        <p:spPr>
          <a:xfrm>
            <a:off x="1600200" y="1905000"/>
            <a:ext cx="23114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dirty="0">
                <a:solidFill>
                  <a:srgbClr val="0C2340"/>
                </a:solidFill>
              </a:rPr>
              <a:t>Mantenimiento: 200 h Junior + 20 h Senior al año (≈35 % del esfuerzo inicial)
Salarios: +3,0 % en 2027 → +2,0 % desde 2029
Infraestructura: 300 €/año
Indirectos: 15 %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4C0D0B8-B5EC-41D7-8E4B-0C326D367684}"/>
              </a:ext>
            </a:extLst>
          </p:cNvPr>
          <p:cNvSpPr/>
          <p:nvPr/>
        </p:nvSpPr>
        <p:spPr>
          <a:xfrm>
            <a:off x="2209800" y="4222750"/>
            <a:ext cx="5763491" cy="622300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s-ES" sz="1500" b="1" dirty="0">
                <a:solidFill>
                  <a:srgbClr val="FFFFFF"/>
                </a:solidFill>
              </a:rPr>
              <a:t>Punto de equilibrio en el 2.º año Retorno acumulado: 59.689 € frente </a:t>
            </a:r>
          </a:p>
          <a:p>
            <a:pPr algn="ctr"/>
            <a:r>
              <a:rPr lang="es-ES" sz="1500" b="1" dirty="0">
                <a:solidFill>
                  <a:srgbClr val="FFFFFF"/>
                </a:solidFill>
              </a:rPr>
              <a:t>a 50.011 € de costes de operación</a:t>
            </a:r>
          </a:p>
        </p:txBody>
      </p:sp>
      <p:graphicFrame>
        <p:nvGraphicFramePr>
          <p:cNvPr id="201" name="Gráfica proyección"/>
          <p:cNvGraphicFramePr/>
          <p:nvPr>
            <p:extLst>
              <p:ext uri="{D42A27DB-BD31-4B8C-83A1-F6EECF244321}">
                <p14:modId xmlns:p14="http://schemas.microsoft.com/office/powerpoint/2010/main" val="917096721"/>
              </p:ext>
            </p:extLst>
          </p:nvPr>
        </p:nvGraphicFramePr>
        <p:xfrm>
          <a:off x="4064000" y="1371600"/>
          <a:ext cx="5029200" cy="283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FE31929-5A32-CD04-90FE-CD11E22137AC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7E809E0-AE39-57B0-D832-D0FD74396022}"/>
              </a:ext>
            </a:extLst>
          </p:cNvPr>
          <p:cNvSpPr/>
          <p:nvPr/>
        </p:nvSpPr>
        <p:spPr>
          <a:xfrm>
            <a:off x="-290944" y="4173634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88C13AA-A7B3-590B-B57D-5133EAC826DC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096B198-B93B-FC70-E74B-0F7510950307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4C92F64-A053-A03C-BDF8-5DCF4501797E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Presupuesto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5EDBB7-89FB-3073-F10D-24610CA7E79B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69D831D-FCA2-EF14-5DA6-42CF13240A11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508973F-4640-FA02-5694-DD8578576305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AD78C35-32A1-23A5-48CE-55014DEF185E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2DAEA93-5110-E29D-76F5-3F6A13B580D5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5796F6C-5935-D105-BE1D-DFFD07E33258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3268BA9-6698-24F2-23FD-BA6DABFAB4F1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DB2543D6-21E4-4D3A-8470-FBB2451BDC51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4338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F6F689-9A5D-46C9-918E-B92E31A46AE4}"/>
              </a:ext>
            </a:extLst>
          </p:cNvPr>
          <p:cNvSpPr txBox="1"/>
          <p:nvPr/>
        </p:nvSpPr>
        <p:spPr>
          <a:xfrm>
            <a:off x="1422400" y="706005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Difusión de resultados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68EC28C-6118-4C92-A6F2-67FCBC3ED553}"/>
              </a:ext>
            </a:extLst>
          </p:cNvPr>
          <p:cNvSpPr/>
          <p:nvPr/>
        </p:nvSpPr>
        <p:spPr>
          <a:xfrm>
            <a:off x="1447800" y="1264805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38CECA2-471A-4A07-BF63-8D30025DE014}"/>
              </a:ext>
            </a:extLst>
          </p:cNvPr>
          <p:cNvSpPr/>
          <p:nvPr/>
        </p:nvSpPr>
        <p:spPr>
          <a:xfrm>
            <a:off x="1444044" y="1476875"/>
            <a:ext cx="2133600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66B078-2682-405A-BD8A-64837C8FC73A}"/>
              </a:ext>
            </a:extLst>
          </p:cNvPr>
          <p:cNvSpPr/>
          <p:nvPr/>
        </p:nvSpPr>
        <p:spPr>
          <a:xfrm>
            <a:off x="1444044" y="1476875"/>
            <a:ext cx="2133600" cy="4572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2D1A2-E7D4-466D-8942-D83CD44BD3FB}"/>
              </a:ext>
            </a:extLst>
          </p:cNvPr>
          <p:cNvSpPr txBox="1"/>
          <p:nvPr/>
        </p:nvSpPr>
        <p:spPr>
          <a:xfrm>
            <a:off x="1444044" y="1591175"/>
            <a:ext cx="2133600" cy="31547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 dirty="0">
                <a:solidFill>
                  <a:srgbClr val="FFFFFF"/>
                </a:solidFill>
                <a:latin typeface="Montserrat"/>
              </a:rPr>
              <a:t>Póster AHPGG 2026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7D3CA4-0A96-4BFB-9321-ACAA951FE135}"/>
              </a:ext>
            </a:extLst>
          </p:cNvPr>
          <p:cNvSpPr txBox="1"/>
          <p:nvPr/>
        </p:nvSpPr>
        <p:spPr>
          <a:xfrm>
            <a:off x="1506967" y="2094626"/>
            <a:ext cx="2133600" cy="105413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XII AHPGG, junio 2026, ETSITGC-UPM.
•  Sesión S02: Sismología y Física del Interior de la Tierra.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D448A11-9158-4AF7-825B-08B735CA72C9}"/>
              </a:ext>
            </a:extLst>
          </p:cNvPr>
          <p:cNvSpPr/>
          <p:nvPr/>
        </p:nvSpPr>
        <p:spPr>
          <a:xfrm>
            <a:off x="3734951" y="1476875"/>
            <a:ext cx="2489200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6A32C5-C0B2-414C-BC8F-2C230940FEB6}"/>
              </a:ext>
            </a:extLst>
          </p:cNvPr>
          <p:cNvSpPr/>
          <p:nvPr/>
        </p:nvSpPr>
        <p:spPr>
          <a:xfrm>
            <a:off x="3734951" y="1476875"/>
            <a:ext cx="2489200" cy="457200"/>
          </a:xfrm>
          <a:prstGeom prst="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6705D6-A276-47E4-A7DE-1B45267CDB18}"/>
              </a:ext>
            </a:extLst>
          </p:cNvPr>
          <p:cNvSpPr txBox="1"/>
          <p:nvPr/>
        </p:nvSpPr>
        <p:spPr>
          <a:xfrm>
            <a:off x="3912751" y="1591175"/>
            <a:ext cx="2133600" cy="31547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 dirty="0">
                <a:solidFill>
                  <a:srgbClr val="FFFFFF"/>
                </a:solidFill>
                <a:latin typeface="Montserrat"/>
              </a:rPr>
              <a:t>Demo NTT DATA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EEEA9E-EA7F-400B-8855-F0FF45CF5FBD}"/>
              </a:ext>
            </a:extLst>
          </p:cNvPr>
          <p:cNvSpPr txBox="1"/>
          <p:nvPr/>
        </p:nvSpPr>
        <p:spPr>
          <a:xfrm>
            <a:off x="3912751" y="2086475"/>
            <a:ext cx="2133600" cy="259301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Demostración funcional en el comité mensual de NTT DATA.
•  Flujo completo: carga de catálogo, importación de zonas, ajuste G-R, edición de epicentros e informes PDF.
•  Viabilidad como herramienta integrable en proyectos de riesgos naturales.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41C2937-6B77-41DD-BEDB-6FBBA47C4247}"/>
              </a:ext>
            </a:extLst>
          </p:cNvPr>
          <p:cNvSpPr/>
          <p:nvPr/>
        </p:nvSpPr>
        <p:spPr>
          <a:xfrm>
            <a:off x="6349997" y="1476875"/>
            <a:ext cx="2133601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D9651D-978B-4CDE-913C-6D46B36B6FAC}"/>
              </a:ext>
            </a:extLst>
          </p:cNvPr>
          <p:cNvSpPr/>
          <p:nvPr/>
        </p:nvSpPr>
        <p:spPr>
          <a:xfrm>
            <a:off x="6349997" y="1476875"/>
            <a:ext cx="2133602" cy="4572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69AC7D-3AEE-41C5-B55E-D152168EC380}"/>
              </a:ext>
            </a:extLst>
          </p:cNvPr>
          <p:cNvSpPr txBox="1"/>
          <p:nvPr/>
        </p:nvSpPr>
        <p:spPr>
          <a:xfrm>
            <a:off x="6601691" y="1591175"/>
            <a:ext cx="2133600" cy="31547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 dirty="0">
                <a:solidFill>
                  <a:srgbClr val="FFFFFF"/>
                </a:solidFill>
                <a:latin typeface="Montserrat"/>
              </a:rPr>
              <a:t>Revista </a:t>
            </a:r>
            <a:r>
              <a:rPr lang="es-ES" sz="1450" b="1" dirty="0" err="1">
                <a:solidFill>
                  <a:srgbClr val="FFFFFF"/>
                </a:solidFill>
                <a:latin typeface="Montserrat"/>
              </a:rPr>
              <a:t>Mapping</a:t>
            </a:r>
            <a:endParaRPr lang="es-ES" sz="145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4CC9D5E-F240-473E-BFE6-C4403C41372C}"/>
              </a:ext>
            </a:extLst>
          </p:cNvPr>
          <p:cNvSpPr txBox="1"/>
          <p:nvPr/>
        </p:nvSpPr>
        <p:spPr>
          <a:xfrm>
            <a:off x="6350000" y="2122055"/>
            <a:ext cx="2133600" cy="143885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Artículo técnico-científico en preparación para </a:t>
            </a:r>
            <a:r>
              <a:rPr lang="es-ES" sz="12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Mapping</a:t>
            </a:r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 (Revista Internacional de Geomática).
•  Difusión al entorno académico y profesional.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441E0A7-2958-6E91-175A-EC50FB722818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765468A-BFAD-B38C-570A-20EBA555585A}"/>
              </a:ext>
            </a:extLst>
          </p:cNvPr>
          <p:cNvSpPr/>
          <p:nvPr/>
        </p:nvSpPr>
        <p:spPr>
          <a:xfrm>
            <a:off x="-289549" y="4492004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86DBE1-B07D-F45B-7896-59D0509F5B49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FE2167B-D284-A432-B8F2-8AA514E1E69B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3E8579B-66BE-1AB4-7400-0F85535B61C8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83FA1D6-85BE-59D9-3462-7695DEDECA33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Difusión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C728BCB-32DA-DBF7-A47F-ABD2804F51A3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49C6702-FBEE-375F-3A83-8C034D908BBA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2E5C0BB-F105-E84B-58A0-6C02EA9472B6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1ED4236-FCB4-8329-E908-09C5C6249503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E4631A0-5B06-045F-2429-365ABA33270C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0D5CF3B-663A-F3B3-825D-2A4DF4130519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627E9436-F4C1-4FAF-B3E6-2D2386FB3E1F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1711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F6F689-9A5D-46C9-918E-B92E31A46AE4}"/>
              </a:ext>
            </a:extLst>
          </p:cNvPr>
          <p:cNvSpPr txBox="1"/>
          <p:nvPr/>
        </p:nvSpPr>
        <p:spPr>
          <a:xfrm>
            <a:off x="1422400" y="795858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 dirty="0">
                <a:solidFill>
                  <a:srgbClr val="0C2340"/>
                </a:solidFill>
                <a:latin typeface="Montserrat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68EC28C-6118-4C92-A6F2-67FCBC3ED553}"/>
              </a:ext>
            </a:extLst>
          </p:cNvPr>
          <p:cNvSpPr/>
          <p:nvPr/>
        </p:nvSpPr>
        <p:spPr>
          <a:xfrm>
            <a:off x="1447800" y="1309255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38CECA2-471A-4A07-BF63-8D30025DE014}"/>
              </a:ext>
            </a:extLst>
          </p:cNvPr>
          <p:cNvSpPr/>
          <p:nvPr/>
        </p:nvSpPr>
        <p:spPr>
          <a:xfrm>
            <a:off x="1528615" y="1473200"/>
            <a:ext cx="2133601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66B078-2682-405A-BD8A-64837C8FC73A}"/>
              </a:ext>
            </a:extLst>
          </p:cNvPr>
          <p:cNvSpPr/>
          <p:nvPr/>
        </p:nvSpPr>
        <p:spPr>
          <a:xfrm>
            <a:off x="1528615" y="1473200"/>
            <a:ext cx="2133602" cy="457200"/>
          </a:xfrm>
          <a:prstGeom prst="rect">
            <a:avLst/>
          </a:prstGeom>
          <a:solidFill>
            <a:srgbClr val="1B5F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2D1A2-E7D4-466D-8942-D83CD44BD3FB}"/>
              </a:ext>
            </a:extLst>
          </p:cNvPr>
          <p:cNvSpPr txBox="1"/>
          <p:nvPr/>
        </p:nvSpPr>
        <p:spPr>
          <a:xfrm>
            <a:off x="1706415" y="1574800"/>
            <a:ext cx="2133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 dirty="0">
                <a:solidFill>
                  <a:srgbClr val="FFFFFF"/>
                </a:solidFill>
                <a:latin typeface="Montserrat"/>
              </a:rPr>
              <a:t>Generales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7D3CA4-0A96-4BFB-9321-ACAA951FE135}"/>
              </a:ext>
            </a:extLst>
          </p:cNvPr>
          <p:cNvSpPr txBox="1"/>
          <p:nvPr/>
        </p:nvSpPr>
        <p:spPr>
          <a:xfrm>
            <a:off x="1592117" y="2108952"/>
            <a:ext cx="2133600" cy="220829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es-ES" sz="1250" dirty="0" err="1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Geoportal</a:t>
            </a:r>
            <a:r>
              <a:rPr lang="es-ES" sz="1250" dirty="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 funcional que cubre todos los objetivos planteados.
•  Parámetros de recurrencia coherentes con la bibliografía (caso de aplicación: Centroamérica).
•  Robusto para catálogos de hasta 100.000 eventos.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D448A11-9158-4AF7-825B-08B735CA72C9}"/>
              </a:ext>
            </a:extLst>
          </p:cNvPr>
          <p:cNvSpPr/>
          <p:nvPr/>
        </p:nvSpPr>
        <p:spPr>
          <a:xfrm>
            <a:off x="3814617" y="1473200"/>
            <a:ext cx="2489200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6A32C5-C0B2-414C-BC8F-2C230940FEB6}"/>
              </a:ext>
            </a:extLst>
          </p:cNvPr>
          <p:cNvSpPr/>
          <p:nvPr/>
        </p:nvSpPr>
        <p:spPr>
          <a:xfrm>
            <a:off x="3814617" y="1473200"/>
            <a:ext cx="2489200" cy="457200"/>
          </a:xfrm>
          <a:prstGeom prst="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6705D6-A276-47E4-A7DE-1B45267CDB18}"/>
              </a:ext>
            </a:extLst>
          </p:cNvPr>
          <p:cNvSpPr txBox="1"/>
          <p:nvPr/>
        </p:nvSpPr>
        <p:spPr>
          <a:xfrm>
            <a:off x="3992417" y="1587500"/>
            <a:ext cx="2133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Montserrat"/>
              </a:rPr>
              <a:t>Limitaciones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EEEA9E-EA7F-400B-8855-F0FF45CF5FBD}"/>
              </a:ext>
            </a:extLst>
          </p:cNvPr>
          <p:cNvSpPr txBox="1"/>
          <p:nvPr/>
        </p:nvSpPr>
        <p:spPr>
          <a:xfrm>
            <a:off x="3992417" y="2082800"/>
            <a:ext cx="2133600" cy="240065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SQLite no optimizada para catálogos de más de 100.000 eventos (migrar a PostgreSQL/PostGIS).
•  Solo fuentes tipo zona; sin modelos basados en fallas activas individuales.
•  Estimación de Mc sensible al método MAXC (±0,1 en Mc → ±0,05 en b).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41C2937-6B77-41DD-BEDB-6FBBA47C4247}"/>
              </a:ext>
            </a:extLst>
          </p:cNvPr>
          <p:cNvSpPr/>
          <p:nvPr/>
        </p:nvSpPr>
        <p:spPr>
          <a:xfrm>
            <a:off x="6456217" y="1473200"/>
            <a:ext cx="2489200" cy="322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D9651D-978B-4CDE-913C-6D46B36B6FAC}"/>
              </a:ext>
            </a:extLst>
          </p:cNvPr>
          <p:cNvSpPr/>
          <p:nvPr/>
        </p:nvSpPr>
        <p:spPr>
          <a:xfrm>
            <a:off x="6456217" y="1473200"/>
            <a:ext cx="2489200" cy="4572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69AC7D-3AEE-41C5-B55E-D152168EC380}"/>
              </a:ext>
            </a:extLst>
          </p:cNvPr>
          <p:cNvSpPr txBox="1"/>
          <p:nvPr/>
        </p:nvSpPr>
        <p:spPr>
          <a:xfrm>
            <a:off x="6634017" y="1587500"/>
            <a:ext cx="2133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Montserrat"/>
              </a:rPr>
              <a:t>Aportaciones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4CC9D5E-F240-473E-BFE6-C4403C41372C}"/>
              </a:ext>
            </a:extLst>
          </p:cNvPr>
          <p:cNvSpPr txBox="1"/>
          <p:nvPr/>
        </p:nvSpPr>
        <p:spPr>
          <a:xfrm>
            <a:off x="6634017" y="2082800"/>
            <a:ext cx="2133600" cy="240065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25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Editor interactivo de epicentros condicionado por elipses de error: único en una herramienta web.
•  Integración de catálogos, zonas, completitud y elipses en una sola plataforma.
•  Ajuste G-R por MMCC y MV con comparación inmediata de resultados.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F6976FED-98CA-ECA1-D001-FCDC97FB8915}"/>
              </a:ext>
            </a:extLst>
          </p:cNvPr>
          <p:cNvSpPr/>
          <p:nvPr/>
        </p:nvSpPr>
        <p:spPr>
          <a:xfrm>
            <a:off x="-290944" y="-290945"/>
            <a:ext cx="1513408" cy="5742709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01E2EA7C-AF96-7E24-404A-83EC201E3BF3}"/>
              </a:ext>
            </a:extLst>
          </p:cNvPr>
          <p:cNvSpPr/>
          <p:nvPr/>
        </p:nvSpPr>
        <p:spPr>
          <a:xfrm>
            <a:off x="-290944" y="4759264"/>
            <a:ext cx="1513408" cy="29718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C234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F7A5F3B-3689-6ECF-C15C-D9CF31997EB9}"/>
              </a:ext>
            </a:extLst>
          </p:cNvPr>
          <p:cNvSpPr txBox="1"/>
          <p:nvPr/>
        </p:nvSpPr>
        <p:spPr>
          <a:xfrm>
            <a:off x="8" y="3600853"/>
            <a:ext cx="83227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Resultado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6437879-47A7-B69A-F46C-EECAE1C23BC7}"/>
              </a:ext>
            </a:extLst>
          </p:cNvPr>
          <p:cNvSpPr txBox="1"/>
          <p:nvPr/>
        </p:nvSpPr>
        <p:spPr>
          <a:xfrm>
            <a:off x="0" y="3905357"/>
            <a:ext cx="76655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Mercado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8C2BD1A-1FBA-8526-58BA-10B4381AD54F}"/>
              </a:ext>
            </a:extLst>
          </p:cNvPr>
          <p:cNvSpPr txBox="1"/>
          <p:nvPr/>
        </p:nvSpPr>
        <p:spPr>
          <a:xfrm>
            <a:off x="2359" y="4199035"/>
            <a:ext cx="103265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Presupuesto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8FA1717-03D0-E935-C53E-19F6DAE9E6E2}"/>
              </a:ext>
            </a:extLst>
          </p:cNvPr>
          <p:cNvSpPr txBox="1"/>
          <p:nvPr/>
        </p:nvSpPr>
        <p:spPr>
          <a:xfrm>
            <a:off x="0" y="4517405"/>
            <a:ext cx="744114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Difusión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A87D87E-64A1-EF48-1D76-EFD72FA50191}"/>
              </a:ext>
            </a:extLst>
          </p:cNvPr>
          <p:cNvSpPr txBox="1"/>
          <p:nvPr/>
        </p:nvSpPr>
        <p:spPr>
          <a:xfrm>
            <a:off x="2359" y="2019809"/>
            <a:ext cx="925253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Motivación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E87BB54-EB7C-D0D3-2518-64BC925A117F}"/>
              </a:ext>
            </a:extLst>
          </p:cNvPr>
          <p:cNvSpPr txBox="1"/>
          <p:nvPr/>
        </p:nvSpPr>
        <p:spPr>
          <a:xfrm>
            <a:off x="2359" y="2950527"/>
            <a:ext cx="1000595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Arquitectura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8EC5DCC-CF71-6898-6261-923773D1AF71}"/>
              </a:ext>
            </a:extLst>
          </p:cNvPr>
          <p:cNvSpPr txBox="1"/>
          <p:nvPr/>
        </p:nvSpPr>
        <p:spPr>
          <a:xfrm>
            <a:off x="2082" y="3275969"/>
            <a:ext cx="1287532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Funcionamiento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602C270-578C-2707-DD1C-8FCA38A32D1C}"/>
              </a:ext>
            </a:extLst>
          </p:cNvPr>
          <p:cNvSpPr txBox="1"/>
          <p:nvPr/>
        </p:nvSpPr>
        <p:spPr>
          <a:xfrm>
            <a:off x="2358" y="2324743"/>
            <a:ext cx="78899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Objetivos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5532DA-267B-E898-0D26-A55FEDB014B9}"/>
              </a:ext>
            </a:extLst>
          </p:cNvPr>
          <p:cNvSpPr txBox="1"/>
          <p:nvPr/>
        </p:nvSpPr>
        <p:spPr>
          <a:xfrm>
            <a:off x="2359" y="2629204"/>
            <a:ext cx="1119217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dirty="0">
                <a:solidFill>
                  <a:srgbClr val="DCE9F8"/>
                </a:solidFill>
                <a:latin typeface="Montserrat"/>
              </a:rPr>
              <a:t>Fundamentos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99D49D4A-BB90-71F7-E776-BE185B719CCB}"/>
              </a:ext>
            </a:extLst>
          </p:cNvPr>
          <p:cNvSpPr txBox="1"/>
          <p:nvPr/>
        </p:nvSpPr>
        <p:spPr>
          <a:xfrm>
            <a:off x="0" y="4784664"/>
            <a:ext cx="1077539" cy="246221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algn="l"/>
            <a:r>
              <a:rPr lang="es-ES" sz="1000" b="1" dirty="0">
                <a:solidFill>
                  <a:srgbClr val="0C2340"/>
                </a:solidFill>
                <a:latin typeface="Montserrat"/>
              </a:rPr>
              <a:t>Conclusiones</a:t>
            </a:r>
          </a:p>
        </p:txBody>
      </p:sp>
      <p:sp>
        <p:nvSpPr>
          <p:cNvPr id="2" name="PageNumberBadge">
            <a:extLst>
              <a:ext uri="{FF2B5EF4-FFF2-40B4-BE49-F238E27FC236}">
                <a16:creationId xmlns:a16="http://schemas.microsoft.com/office/drawing/2014/main" id="{E11FC626-44A7-4C68-B704-5A15CDC3AE43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3272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D5A0F67-6DA8-40FD-8DBF-12E3FD82507C}"/>
              </a:ext>
            </a:extLst>
          </p:cNvPr>
          <p:cNvSpPr txBox="1"/>
          <p:nvPr/>
        </p:nvSpPr>
        <p:spPr>
          <a:xfrm>
            <a:off x="685800" y="508000"/>
            <a:ext cx="558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 b="1">
                <a:solidFill>
                  <a:srgbClr val="1B5FA8"/>
                </a:solidFill>
                <a:latin typeface="Montserrat"/>
              </a:rPr>
              <a:t>LÍNEAS FUTURAS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B7A69C-60D0-4B14-8700-0DC26EA24610}"/>
              </a:ext>
            </a:extLst>
          </p:cNvPr>
          <p:cNvSpPr txBox="1"/>
          <p:nvPr/>
        </p:nvSpPr>
        <p:spPr>
          <a:xfrm>
            <a:off x="685800" y="762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800" b="1">
                <a:solidFill>
                  <a:srgbClr val="0C2340"/>
                </a:solidFill>
                <a:latin typeface="Montserrat"/>
              </a:rPr>
              <a:t>Líneas futuras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1C1D67D-C043-49A9-8CDF-E927A1DFA93D}"/>
              </a:ext>
            </a:extLst>
          </p:cNvPr>
          <p:cNvSpPr/>
          <p:nvPr/>
        </p:nvSpPr>
        <p:spPr>
          <a:xfrm>
            <a:off x="711200" y="1320800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192DE48-2FC8-4E49-A0AE-9EE8B71F8131}"/>
              </a:ext>
            </a:extLst>
          </p:cNvPr>
          <p:cNvSpPr/>
          <p:nvPr/>
        </p:nvSpPr>
        <p:spPr>
          <a:xfrm>
            <a:off x="685800" y="1701800"/>
            <a:ext cx="3810000" cy="2997200"/>
          </a:xfrm>
          <a:prstGeom prst="round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4BD95E-4EB0-4EC6-B7EC-2B1955277A76}"/>
              </a:ext>
            </a:extLst>
          </p:cNvPr>
          <p:cNvSpPr txBox="1"/>
          <p:nvPr/>
        </p:nvSpPr>
        <p:spPr>
          <a:xfrm>
            <a:off x="939800" y="19812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b="1">
                <a:solidFill>
                  <a:srgbClr val="FFFFFF"/>
                </a:solidFill>
                <a:latin typeface="Montserrat"/>
              </a:rPr>
              <a:t>Fuentes tipo falla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A9C1B3-3D63-41E4-966E-3F18E47ADAD0}"/>
              </a:ext>
            </a:extLst>
          </p:cNvPr>
          <p:cNvSpPr/>
          <p:nvPr/>
        </p:nvSpPr>
        <p:spPr>
          <a:xfrm>
            <a:off x="939800" y="2362200"/>
            <a:ext cx="584200" cy="381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4A22C0-8225-4880-AB32-198725434C8E}"/>
              </a:ext>
            </a:extLst>
          </p:cNvPr>
          <p:cNvSpPr txBox="1"/>
          <p:nvPr/>
        </p:nvSpPr>
        <p:spPr>
          <a:xfrm>
            <a:off x="939800" y="2540000"/>
            <a:ext cx="33020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400">
                <a:solidFill>
                  <a:srgbClr val="D7E5F5"/>
                </a:solidFill>
                <a:latin typeface="Calibri"/>
                <a:ea typeface="Calibri"/>
                <a:cs typeface="Calibri"/>
              </a:rPr>
              <a:t>El geoportal trabaja hoy con zonas de área. La extensión más natural es incorporar fuentes tipo falla (fault sources), con sus propios modelos de recurrencia (p. ej. magnitud característica).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3A982C0-7D1D-48EA-8C6F-37D4DAC16BDB}"/>
              </a:ext>
            </a:extLst>
          </p:cNvPr>
          <p:cNvSpPr/>
          <p:nvPr/>
        </p:nvSpPr>
        <p:spPr>
          <a:xfrm>
            <a:off x="4648200" y="1701800"/>
            <a:ext cx="3810000" cy="299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0CC8B7-7EB4-41F2-8BBD-63DA4ECA26E5}"/>
              </a:ext>
            </a:extLst>
          </p:cNvPr>
          <p:cNvSpPr txBox="1"/>
          <p:nvPr/>
        </p:nvSpPr>
        <p:spPr>
          <a:xfrm>
            <a:off x="4902200" y="19558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600" b="1">
                <a:solidFill>
                  <a:srgbClr val="1B5FA8"/>
                </a:solidFill>
                <a:latin typeface="Montserrat"/>
              </a:rPr>
              <a:t>Nuevas funcionalidades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2D4A28-CA19-423D-8D53-E1462C59D35A}"/>
              </a:ext>
            </a:extLst>
          </p:cNvPr>
          <p:cNvSpPr/>
          <p:nvPr/>
        </p:nvSpPr>
        <p:spPr>
          <a:xfrm>
            <a:off x="4902200" y="2311400"/>
            <a:ext cx="508000" cy="38100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C94B45E-1EC8-48A2-8E1D-20F4A7FAC3E5}"/>
              </a:ext>
            </a:extLst>
          </p:cNvPr>
          <p:cNvSpPr txBox="1"/>
          <p:nvPr/>
        </p:nvSpPr>
        <p:spPr>
          <a:xfrm>
            <a:off x="4902200" y="2489200"/>
            <a:ext cx="3302000" cy="189282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33475B"/>
                </a:solidFill>
                <a:latin typeface="Calibri"/>
                <a:ea typeface="Calibri"/>
                <a:cs typeface="Calibri"/>
              </a:rPr>
              <a:t>•  Incorporar algoritmos de declustering para depurar el catálogo dentro de la plataforma.
•  Estimar la incertidumbre de localización cuando el catálogo no incluya elipses de error.
•  Exportar modelos de fuentes compatibles con OpenQuake para cálculo probabilista de peligrosidad.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E89BC85-BEA1-4C5E-A2A6-D6EB1B6CF3F8}"/>
              </a:ext>
            </a:extLst>
          </p:cNvPr>
          <p:cNvSpPr/>
          <p:nvPr/>
        </p:nvSpPr>
        <p:spPr>
          <a:xfrm>
            <a:off x="5082363" y="1701800"/>
            <a:ext cx="2962940" cy="63500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1C2DDB1-CC51-EB6F-51A6-DA4CD870B51C}"/>
              </a:ext>
            </a:extLst>
          </p:cNvPr>
          <p:cNvSpPr/>
          <p:nvPr/>
        </p:nvSpPr>
        <p:spPr>
          <a:xfrm>
            <a:off x="1109330" y="1695893"/>
            <a:ext cx="2962940" cy="635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>
              <a:solidFill>
                <a:srgbClr val="0C2340"/>
              </a:solidFill>
            </a:endParaRPr>
          </a:p>
        </p:txBody>
      </p:sp>
      <p:sp>
        <p:nvSpPr>
          <p:cNvPr id="17" name="PageNumberBadge">
            <a:extLst>
              <a:ext uri="{FF2B5EF4-FFF2-40B4-BE49-F238E27FC236}">
                <a16:creationId xmlns:a16="http://schemas.microsoft.com/office/drawing/2014/main" id="{7B4E861B-C3EB-473E-A9DC-860657B9167A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77484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75C896B-2C98-4ACB-B8E8-4E34CA9B6EF5}"/>
              </a:ext>
            </a:extLst>
          </p:cNvPr>
          <p:cNvSpPr/>
          <p:nvPr/>
        </p:nvSpPr>
        <p:spPr>
          <a:xfrm>
            <a:off x="6858000" y="2984500"/>
            <a:ext cx="4191000" cy="4191000"/>
          </a:xfrm>
          <a:prstGeom prst="ellipse">
            <a:avLst/>
          </a:prstGeom>
          <a:noFill/>
          <a:ln w="31750" cap="flat" cmpd="sng" algn="ctr">
            <a:solidFill>
              <a:srgbClr val="1B5F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2772664-4123-4000-8723-1B9E446CB203}"/>
              </a:ext>
            </a:extLst>
          </p:cNvPr>
          <p:cNvSpPr/>
          <p:nvPr/>
        </p:nvSpPr>
        <p:spPr>
          <a:xfrm>
            <a:off x="7391400" y="3517900"/>
            <a:ext cx="3124200" cy="3124200"/>
          </a:xfrm>
          <a:prstGeom prst="ellipse">
            <a:avLst/>
          </a:prstGeom>
          <a:noFill/>
          <a:ln w="25400" cap="flat" cmpd="sng" algn="ctr">
            <a:solidFill>
              <a:srgbClr val="5B9B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E74E9E1-F0F9-4745-88EC-479C598A27FF}"/>
              </a:ext>
            </a:extLst>
          </p:cNvPr>
          <p:cNvSpPr/>
          <p:nvPr/>
        </p:nvSpPr>
        <p:spPr>
          <a:xfrm>
            <a:off x="7874000" y="4000500"/>
            <a:ext cx="2159000" cy="2159000"/>
          </a:xfrm>
          <a:prstGeom prst="ellipse">
            <a:avLst/>
          </a:prstGeom>
          <a:noFill/>
          <a:ln w="19050" cap="flat" cmpd="sng" algn="ctr">
            <a:solidFill>
              <a:srgbClr val="9FC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B29A80-0531-4250-843A-DEDFB8E5BC31}"/>
              </a:ext>
            </a:extLst>
          </p:cNvPr>
          <p:cNvSpPr/>
          <p:nvPr/>
        </p:nvSpPr>
        <p:spPr>
          <a:xfrm>
            <a:off x="8280400" y="4406900"/>
            <a:ext cx="1346200" cy="1346200"/>
          </a:xfrm>
          <a:prstGeom prst="ellipse">
            <a:avLst/>
          </a:prstGeom>
          <a:noFill/>
          <a:ln w="12700" cap="flat" cmpd="sng" algn="ctr">
            <a:solidFill>
              <a:srgbClr val="9FC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7409C2-EAF9-426F-9545-1CF832BE32D2}"/>
              </a:ext>
            </a:extLst>
          </p:cNvPr>
          <p:cNvSpPr/>
          <p:nvPr/>
        </p:nvSpPr>
        <p:spPr>
          <a:xfrm>
            <a:off x="762000" y="1905000"/>
            <a:ext cx="6858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CBE480-DA4F-4D27-9FAE-74AA4B9700E5}"/>
              </a:ext>
            </a:extLst>
          </p:cNvPr>
          <p:cNvSpPr txBox="1"/>
          <p:nvPr/>
        </p:nvSpPr>
        <p:spPr>
          <a:xfrm>
            <a:off x="762000" y="2133600"/>
            <a:ext cx="71120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5400" b="1">
                <a:solidFill>
                  <a:srgbClr val="FFFFFF"/>
                </a:solidFill>
                <a:latin typeface="Montserrat"/>
              </a:rPr>
              <a:t>Gracias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9360BD-60EE-45C0-AE0C-14446DBF612C}"/>
              </a:ext>
            </a:extLst>
          </p:cNvPr>
          <p:cNvSpPr txBox="1"/>
          <p:nvPr/>
        </p:nvSpPr>
        <p:spPr>
          <a:xfrm>
            <a:off x="762000" y="3048000"/>
            <a:ext cx="7112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2400">
                <a:solidFill>
                  <a:srgbClr val="9FC3EA"/>
                </a:solidFill>
                <a:latin typeface="Montserrat"/>
              </a:rPr>
              <a:t>¿Preguntas?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EBEEE3-AD78-46DC-84C1-A30EE7CD0D14}"/>
              </a:ext>
            </a:extLst>
          </p:cNvPr>
          <p:cNvSpPr txBox="1"/>
          <p:nvPr/>
        </p:nvSpPr>
        <p:spPr>
          <a:xfrm>
            <a:off x="762000" y="37592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b="1">
                <a:solidFill>
                  <a:srgbClr val="FFFFFF"/>
                </a:solidFill>
                <a:latin typeface="Montserrat"/>
              </a:rPr>
              <a:t>Hristiyana Petkova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6D774D-B1A2-436F-80CA-F4B08248E74B}"/>
              </a:ext>
            </a:extLst>
          </p:cNvPr>
          <p:cNvSpPr txBox="1"/>
          <p:nvPr/>
        </p:nvSpPr>
        <p:spPr>
          <a:xfrm>
            <a:off x="762000" y="4089400"/>
            <a:ext cx="7620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300">
                <a:solidFill>
                  <a:srgbClr val="9FC3EA"/>
                </a:solidFill>
                <a:latin typeface="Calibri"/>
                <a:ea typeface="Calibri"/>
                <a:cs typeface="Calibri"/>
              </a:rPr>
              <a:t>Geoportal web interactivo para el análisis de recurrencia sísmica con gestión de la incertidumbre espacial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63893A-51D4-46BC-9516-32AEC2C8D82C}"/>
              </a:ext>
            </a:extLst>
          </p:cNvPr>
          <p:cNvSpPr txBox="1"/>
          <p:nvPr/>
        </p:nvSpPr>
        <p:spPr>
          <a:xfrm>
            <a:off x="762000" y="4419600"/>
            <a:ext cx="762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s-ES" sz="1050">
                <a:solidFill>
                  <a:srgbClr val="9FC3EA"/>
                </a:solidFill>
                <a:latin typeface="Calibri"/>
                <a:ea typeface="Calibri"/>
                <a:cs typeface="Calibri"/>
              </a:rPr>
              <a:t>Tutores: Alicia Rivas Medina, Ramón Pablo Alcarria Garrido
Grado en Ingeniería de las Tecnologías de la Información Geoespacial
E.T.S.I. en Topografía, Geodesia y Cartografía, UPM, julio 2026</a:t>
            </a:r>
          </a:p>
        </p:txBody>
      </p:sp>
      <p:sp>
        <p:nvSpPr>
          <p:cNvPr id="13" name="PageNumberBadge">
            <a:extLst>
              <a:ext uri="{FF2B5EF4-FFF2-40B4-BE49-F238E27FC236}">
                <a16:creationId xmlns:a16="http://schemas.microsoft.com/office/drawing/2014/main" id="{5F35191B-B210-492A-9277-56C8C0547933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45014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49F55D-A757-48E7-9E21-B0EE1E52E38B}"/>
              </a:ext>
            </a:extLst>
          </p:cNvPr>
          <p:cNvSpPr txBox="1"/>
          <p:nvPr/>
        </p:nvSpPr>
        <p:spPr>
          <a:xfrm>
            <a:off x="508000" y="279400"/>
            <a:ext cx="812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600" b="1">
                <a:solidFill>
                  <a:srgbClr val="0C2340"/>
                </a:solidFill>
                <a:latin typeface="Montserrat"/>
              </a:rPr>
              <a:t>Posibles preguntas del tribunal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DCB1243-CF39-4935-91FE-DB962F512024}"/>
              </a:ext>
            </a:extLst>
          </p:cNvPr>
          <p:cNvSpPr/>
          <p:nvPr/>
        </p:nvSpPr>
        <p:spPr>
          <a:xfrm>
            <a:off x="508000" y="9906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1.  ¿Por qué SQLite y no PostgreSQL/PostGIS? ¿Cómo resuelves el filtrado espacial?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2540D53-6F9E-4CB9-A3E9-751BDCF8153E}"/>
              </a:ext>
            </a:extLst>
          </p:cNvPr>
          <p:cNvSpPr/>
          <p:nvPr/>
        </p:nvSpPr>
        <p:spPr>
          <a:xfrm>
            <a:off x="4699000" y="9906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2.  ¿Por qué Leaflet frente a OpenLayers o Mapbox GL JS?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E14FE69-3659-430B-BACB-6F680BC23080}"/>
              </a:ext>
            </a:extLst>
          </p:cNvPr>
          <p:cNvSpPr/>
          <p:nvPr/>
        </p:nvSpPr>
        <p:spPr>
          <a:xfrm>
            <a:off x="508000" y="22860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3.  ¿Cómo tratas CSV heterogéneos: separadores, codificación y nombres de columna?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1AA57DD-4E73-44F1-87E0-0E7610741AED}"/>
              </a:ext>
            </a:extLst>
          </p:cNvPr>
          <p:cNvSpPr/>
          <p:nvPr/>
        </p:nvSpPr>
        <p:spPr>
          <a:xfrm>
            <a:off x="4699000" y="22860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4.  ¿Qué se procesa en el cliente y qué en el servidor? ¿Hasta qué volumen escala?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2383D85-C832-4E91-9B82-E46448DC5E79}"/>
              </a:ext>
            </a:extLst>
          </p:cNvPr>
          <p:cNvSpPr/>
          <p:nvPr/>
        </p:nvSpPr>
        <p:spPr>
          <a:xfrm>
            <a:off x="508000" y="35814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5.  ¿OLS o MLE? ¿Cómo afecta la Mc estimada por MAXC al parámetro b?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D7025B2-1FCC-4C74-A546-3F084F75492C}"/>
              </a:ext>
            </a:extLst>
          </p:cNvPr>
          <p:cNvSpPr/>
          <p:nvPr/>
        </p:nvSpPr>
        <p:spPr>
          <a:xfrm>
            <a:off x="4699000" y="3581400"/>
            <a:ext cx="3937000" cy="1168400"/>
          </a:xfrm>
          <a:prstGeom prst="round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0C2340"/>
                </a:solidFill>
                <a:latin typeface="Montserrat"/>
              </a:rPr>
              <a:t>6.  ¿Cómo validaste los cálculos sin tests unitarios en el backend?</a:t>
            </a:r>
          </a:p>
        </p:txBody>
      </p:sp>
      <p:sp>
        <p:nvSpPr>
          <p:cNvPr id="9" name="PageNumberBadge">
            <a:extLst>
              <a:ext uri="{FF2B5EF4-FFF2-40B4-BE49-F238E27FC236}">
                <a16:creationId xmlns:a16="http://schemas.microsoft.com/office/drawing/2014/main" id="{FCEF9C84-59C1-4D24-AF00-5684007A4B3C}"/>
              </a:ext>
            </a:extLst>
          </p:cNvPr>
          <p:cNvSpPr txBox="1"/>
          <p:nvPr/>
        </p:nvSpPr>
        <p:spPr>
          <a:xfrm>
            <a:off x="8636000" y="4813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00000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69593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445013714]">
  <a:themeElements>
    <a:clrScheme name="Office">
      <a:dk1>
        <a:srgbClr val="0C2340"/>
      </a:dk1>
      <a:lt1>
        <a:srgbClr val="F5F8FC"/>
      </a:lt1>
      <a:dk2>
        <a:srgbClr val="1B5FA8"/>
      </a:dk2>
      <a:lt2>
        <a:srgbClr val="E8F1FB"/>
      </a:lt2>
      <a:accent1>
        <a:srgbClr val="1B5FA8"/>
      </a:accent1>
      <a:accent2>
        <a:srgbClr val="3B82F6"/>
      </a:accent2>
      <a:accent3>
        <a:srgbClr val="5B9BD5"/>
      </a:accent3>
      <a:accent4>
        <a:srgbClr val="0C2340"/>
      </a:accent4>
      <a:accent5>
        <a:srgbClr val="9FC3EA"/>
      </a:accent5>
      <a:accent6>
        <a:srgbClr val="2A6FB0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4A0FCC-A3B4-4954-A765-0BED0E789D7D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0867e76d-a466-4f7e-a87e-a9ab3373d3e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25175</TotalTime>
  <Words>3677</Words>
  <Application>Microsoft Office PowerPoint</Application>
  <PresentationFormat>Presentación en pantalla (16:9)</PresentationFormat>
  <Paragraphs>507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Montserrat</vt:lpstr>
      <vt:lpstr>Office Theme [1781445013714]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Geoportal Web Interactivo para el Análisis de Recurrencia Sísmica</dc:title>
  <dc:subject>PptxGenJS Presentation</dc:subject>
  <dc:creator>Hristiyana Petkova</dc:creator>
  <cp:lastModifiedBy>HRISTIYANA VELICHKOVA PETKOVA</cp:lastModifiedBy>
  <cp:revision>23</cp:revision>
  <dcterms:created xsi:type="dcterms:W3CDTF">2026-06-12T16:38:45Z</dcterms:created>
  <dcterms:modified xsi:type="dcterms:W3CDTF">2026-07-13T13:13:17Z</dcterms:modified>
</cp:coreProperties>
</file>